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726eb6d23994cb3" /><Relationship Type="http://schemas.openxmlformats.org/officeDocument/2006/relationships/extended-properties" Target="/docProps/app.xml" Id="Rc4bdeaac08384b9f" /><Relationship Type="http://schemas.openxmlformats.org/officeDocument/2006/relationships/officeDocument" Target="/ppt/presentation.xml" Id="Rb9b0f59af37e43fb" /></Relationships>
</file>

<file path=ppt/presentation.xml><?xml version="1.0" encoding="utf-8"?>
<p:presentation xmlns:p="http://schemas.openxmlformats.org/presentationml/2006/main">
  <p:sldMasterIdLst>
    <p:sldMasterId xmlns:r="http://schemas.openxmlformats.org/officeDocument/2006/relationships" id="2147483648" r:id="Re4981895e29f406e"/>
  </p:sldMasterIdLst>
  <p:notesMasterIdLst>
    <p:notesMasterId xmlns:r="http://schemas.openxmlformats.org/officeDocument/2006/relationships" r:id="R7bbe9e3e7b624cb7"/>
  </p:notesMasterIdLst>
  <p:sldIdLst>
    <p:sldId xmlns:r="http://schemas.openxmlformats.org/officeDocument/2006/relationships" id="256" r:id="R73dcc721ee4240ec"/>
    <p:sldId xmlns:r="http://schemas.openxmlformats.org/officeDocument/2006/relationships" id="257" r:id="R453386b0dfb14635"/>
    <p:sldId xmlns:r="http://schemas.openxmlformats.org/officeDocument/2006/relationships" id="258" r:id="R2934d8a7ae834767"/>
    <p:sldId xmlns:r="http://schemas.openxmlformats.org/officeDocument/2006/relationships" id="259" r:id="R705ef5b1b98f4c12"/>
    <p:sldId xmlns:r="http://schemas.openxmlformats.org/officeDocument/2006/relationships" id="260" r:id="Rbc7edaa061254213"/>
    <p:sldId xmlns:r="http://schemas.openxmlformats.org/officeDocument/2006/relationships" id="261" r:id="Rcfdf33eb27974383"/>
    <p:sldId xmlns:r="http://schemas.openxmlformats.org/officeDocument/2006/relationships" id="262" r:id="Rf878ad8d5e604a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e0e0cd51f8a4b97" /><Relationship Type="http://schemas.openxmlformats.org/officeDocument/2006/relationships/slideMaster" Target="/ppt/slideMasters/slideMaster1.xml" Id="Re4981895e29f406e" /><Relationship Type="http://schemas.openxmlformats.org/officeDocument/2006/relationships/notesMaster" Target="/ppt/notesMasters/notesMaster1.xml" Id="R7bbe9e3e7b624cb7" /><Relationship Type="http://schemas.openxmlformats.org/officeDocument/2006/relationships/presProps" Target="/ppt/presProps.xml" Id="R4ace12372bcb46e2" /><Relationship Type="http://schemas.openxmlformats.org/officeDocument/2006/relationships/tableStyles" Target="/ppt/tableStyles.xml" Id="R59c68e0d932a4b51" /><Relationship Type="http://schemas.openxmlformats.org/officeDocument/2006/relationships/slide" Target="/ppt/slides/slide1.xml" Id="R73dcc721ee4240ec" /><Relationship Type="http://schemas.openxmlformats.org/officeDocument/2006/relationships/slide" Target="/ppt/slides/slide2.xml" Id="R453386b0dfb14635" /><Relationship Type="http://schemas.openxmlformats.org/officeDocument/2006/relationships/slide" Target="/ppt/slides/slide3.xml" Id="R2934d8a7ae834767" /><Relationship Type="http://schemas.openxmlformats.org/officeDocument/2006/relationships/slide" Target="/ppt/slides/slide4.xml" Id="R705ef5b1b98f4c12" /><Relationship Type="http://schemas.openxmlformats.org/officeDocument/2006/relationships/slide" Target="/ppt/slides/slide5.xml" Id="Rbc7edaa061254213" /><Relationship Type="http://schemas.openxmlformats.org/officeDocument/2006/relationships/slide" Target="/ppt/slides/slide6.xml" Id="Rcfdf33eb27974383" /><Relationship Type="http://schemas.openxmlformats.org/officeDocument/2006/relationships/slide" Target="/ppt/slides/slide7.xml" Id="Rf878ad8d5e604a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515718fb3f43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f55029c3024fac" /><Relationship Type="http://schemas.openxmlformats.org/officeDocument/2006/relationships/notesMaster" Target="/ppt/notesMasters/notesMaster1.xml" Id="R1f0f7b79ab2a4c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1c927986420a46d5" /><Relationship Type="http://schemas.openxmlformats.org/officeDocument/2006/relationships/notesMaster" Target="/ppt/notesMasters/notesMaster1.xml" Id="R44393dd7522041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94db4c4c11147f3" /><Relationship Type="http://schemas.openxmlformats.org/officeDocument/2006/relationships/notesMaster" Target="/ppt/notesMasters/notesMaster1.xml" Id="R58c15d3bdc2848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41eebe9b864968" /><Relationship Type="http://schemas.openxmlformats.org/officeDocument/2006/relationships/notesMaster" Target="/ppt/notesMasters/notesMaster1.xml" Id="R00bc05c675db46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e49dba4b1f9b46fe" /><Relationship Type="http://schemas.openxmlformats.org/officeDocument/2006/relationships/notesMaster" Target="/ppt/notesMasters/notesMaster1.xml" Id="R30f85977fdf54c4d" /></Relationships>
</file>

<file path=ppt/notesSlides/_rels/notesSlide6.xml.rels>&#65279;<?xml version="1.0" encoding="utf-8"?><Relationships xmlns="http://schemas.openxmlformats.org/package/2006/relationships"><Relationship Type="http://schemas.openxmlformats.org/officeDocument/2006/relationships/slide" Target="/ppt/slides/slide6.xml" Id="R31c5406f02ac4a77" /><Relationship Type="http://schemas.openxmlformats.org/officeDocument/2006/relationships/notesMaster" Target="/ppt/notesMasters/notesMaster1.xml" Id="R52cdb4ab50eb422b" /></Relationships>
</file>

<file path=ppt/notesSlides/_rels/notesSlide7.xml.rels>&#65279;<?xml version="1.0" encoding="utf-8"?><Relationships xmlns="http://schemas.openxmlformats.org/package/2006/relationships"><Relationship Type="http://schemas.openxmlformats.org/officeDocument/2006/relationships/slide" Target="/ppt/slides/slide7.xml" Id="R5b595cb0d8da4d54" /><Relationship Type="http://schemas.openxmlformats.org/officeDocument/2006/relationships/notesMaster" Target="/ppt/notesMasters/notesMaster1.xml" Id="R85c62c436db241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저는 실제 미국 주식 거래 데이터를 받아서 1분봉으로 가공하고 저장하는 파이프라인을 만들고 있습니다. 이번 과제에서는 분석이나 자동매매까지 넓히지 않고, 실제 데이터가 들어와 저장되는 뼈대까지 구현했습니다. 화면에 보이는 Kafka와 PostgreSQL은 실제로 실행 가능한 상태입니다.</a:t>
            </a:r>
          </a:p>
          <a:p xmlns:a="http://schemas.openxmlformats.org/drawingml/2006/main">
            <a:r>
              <a:t/>
            </a:r>
          </a:p>
          <a:p xmlns:a="http://schemas.openxmlformats.org/drawingml/2006/main">
            <a:r>
              <a:t>[Sources]</a:t>
            </a:r>
          </a:p>
          <a:p xmlns:a="http://schemas.openxmlformats.org/drawingml/2006/main">
            <a:r>
              <a:t>- /Users/hanjeonghyun/dev/2026/for_my_stock/README.md</a:t>
            </a:r>
          </a:p>
          <a:p xmlns:a="http://schemas.openxmlformats.org/drawingml/2006/main">
            <a:r>
              <a:t>- /Users/hanjeonghyun/dev/2026/for_my_stock/docs/evidence/presentation-captures/01_services_and_raw_storage.png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데이터 소스는 두 가지입니다. 장중에는 Alpaca IEX WebSocket으로 실시간 거래를 받고, 장이 끝난 뒤에는 Historical Trades API로 같은 형식의 실제 거래를 다시 가져옵니다. 이렇게 하면 실시간성을 확인하면서도 발표나 테스트 때 같은 구간을 재현할 수 있습니다. 다만 무료 IEX는 미국 전체 거래소 데이터가 아니기 때문에 전체 시장 거래량이라고 단정하지 않습니다.</a:t>
            </a:r>
          </a:p>
          <a:p xmlns:a="http://schemas.openxmlformats.org/drawingml/2006/main">
            <a:r>
              <a:t/>
            </a:r>
          </a:p>
          <a:p xmlns:a="http://schemas.openxmlformats.org/drawingml/2006/main">
            <a:r>
              <a:t>[Sources]</a:t>
            </a:r>
          </a:p>
          <a:p xmlns:a="http://schemas.openxmlformats.org/drawingml/2006/main">
            <a:r>
              <a:t>- https://docs.alpaca.markets/us/docs/real-time-stock-pricing-data</a:t>
            </a:r>
          </a:p>
          <a:p xmlns:a="http://schemas.openxmlformats.org/drawingml/2006/main">
            <a:r>
              <a:t>- https://docs.alpaca.markets/us/reference/stocktradesingle-1</a:t>
            </a:r>
          </a:p>
          <a:p xmlns:a="http://schemas.openxmlformats.org/drawingml/2006/main">
            <a:r>
              <a:t>- /Users/hanjeonghyun/dev/2026/for_my_stock/docs/data-source-catalog.md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흐름은 왼쪽에서 오른쪽입니다. Alpaca에서 받은 거래를 Python이 공통 형식으로 감싸고, Kafka가 원본 이벤트를 24시간 보관합니다. Spark는 거래가 실제로 발생한 시각을 기준으로 1분 OHLCV를 만들고, PostgreSQL에는 확정된 봉만 저장합니다. 파란색과 초록색 실선이 이번에 구현한 범위이고, 보라색 점선은 다음 단계인 경제지표 수집과 분석입니다.</a:t>
            </a:r>
          </a:p>
          <a:p xmlns:a="http://schemas.openxmlformats.org/drawingml/2006/main">
            <a:r>
              <a:t/>
            </a:r>
          </a:p>
          <a:p xmlns:a="http://schemas.openxmlformats.org/drawingml/2006/main">
            <a:r>
              <a:t>[Sources]</a:t>
            </a:r>
          </a:p>
          <a:p xmlns:a="http://schemas.openxmlformats.org/drawingml/2006/main">
            <a:r>
              <a:t>- /Users/hanjeonghyun/dev/2026/for_my_stock/docs/diagrams/pipeline-architecture.png</a:t>
            </a:r>
          </a:p>
          <a:p xmlns:a="http://schemas.openxmlformats.org/drawingml/2006/main">
            <a:r>
              <a:t>- https://docs.aws.amazon.com/wellarchitected/latest/analytics-lens/reference-architecture-2.html</a:t>
            </a:r>
          </a:p>
          <a:p xmlns:a="http://schemas.openxmlformats.org/drawingml/2006/main">
            <a:r>
              <a:t>- https://docs.databricks.com/aws/en/lakehouse/medallion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Kafka는 단순히 많이 받기 위해서가 아니라 수집과 처리를 분리하고 원본을 다시 읽기 위해 사용했습니다. Spark는 늦게 도착하거나 순서가 바뀐 거래를 실제 거래 시각으로 묶는 역할입니다. PostgreSQL은 최종 1분봉을 SQL로 확인하고, 같은 데이터를 다시 처리해도 한 번만 남도록 합니다. 현재 규모에서 Spark가 꼭 필요한지는 이후 부하 테스트로 따로 검증할 계획입니다.</a:t>
            </a:r>
          </a:p>
          <a:p xmlns:a="http://schemas.openxmlformats.org/drawingml/2006/main">
            <a:r>
              <a:t/>
            </a:r>
          </a:p>
          <a:p xmlns:a="http://schemas.openxmlformats.org/drawingml/2006/main">
            <a:r>
              <a:t>[Sources]</a:t>
            </a:r>
          </a:p>
          <a:p xmlns:a="http://schemas.openxmlformats.org/drawingml/2006/main">
            <a:r>
              <a:t>- /Users/hanjeonghyun/dev/2026/for_my_stock/docs/design-decisions.md</a:t>
            </a:r>
          </a:p>
          <a:p xmlns:a="http://schemas.openxmlformats.org/drawingml/2006/main">
            <a:r>
              <a:t>- /Users/hanjeonghyun/dev/2026/for_my_stock/docs/architecture.md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결과입니다. SMH 거래 427건을 API에서 가져왔고 427건 모두 Kafka에 발행했습니다. Spark는 2분 watermark를 적용해서 확정 가능한 구간만 계산했고, PostgreSQL에는 1분봉 3건이 저장됐습니다. business key 중복은 0건입니다. 마지막 구간이 적게 저장된 이유는 데이터가 사라진 것이 아니라 늦게 오는 거래를 기다리는 설계이기 때문입니다.</a:t>
            </a:r>
          </a:p>
          <a:p xmlns:a="http://schemas.openxmlformats.org/drawingml/2006/main">
            <a:r>
              <a:t/>
            </a:r>
          </a:p>
          <a:p xmlns:a="http://schemas.openxmlformats.org/drawingml/2006/main">
            <a:r>
              <a:t>[Sources]</a:t>
            </a:r>
          </a:p>
          <a:p xmlns:a="http://schemas.openxmlformats.org/drawingml/2006/main">
            <a:r>
              <a:t>- /Users/hanjeonghyun/dev/2026/for_my_stock/docs/evidence/actual-ingestion/result.json</a:t>
            </a:r>
          </a:p>
          <a:p xmlns:a="http://schemas.openxmlformats.org/drawingml/2006/main">
            <a:r>
              <a:t>- /Users/hanjeonghyun/dev/2026/for_my_stock/docs/test-results/2026-08-20-actual-ingestion.md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정상 결과만 확인하지 않았습니다. 단위 테스트 45개를 다시 통과했고, 실제 Kafka와 Spark checkpoint를 사용하는 통합 테스트도 2개 통과했습니다. DB가 내려간 동안에는 성공으로 처리하지 않고 명시적으로 실패했고, 복구한 뒤 같은 batch를 다시 실행했을 때 중복 없이 한 건만 남았습니다. 공개 캡처에는 키와 연결 문자열, 원본 데이터는 넣지 않았습니다.</a:t>
            </a:r>
          </a:p>
          <a:p xmlns:a="http://schemas.openxmlformats.org/drawingml/2006/main">
            <a:r>
              <a:t/>
            </a:r>
          </a:p>
          <a:p xmlns:a="http://schemas.openxmlformats.org/drawingml/2006/main">
            <a:r>
              <a:t>[Sources]</a:t>
            </a:r>
          </a:p>
          <a:p xmlns:a="http://schemas.openxmlformats.org/drawingml/2006/main">
            <a:r>
              <a:t>- /Users/hanjeonghyun/dev/2026/for_my_stock/docs/evidence/presentation-captures/05_automated_tests.png</a:t>
            </a:r>
          </a:p>
          <a:p xmlns:a="http://schemas.openxmlformats.org/drawingml/2006/main">
            <a:r>
              <a:t>- /Users/hanjeonghyun/dev/2026/for_my_stock/docs/evidence/presentation-captures/06_database_recovery.png</a:t>
            </a:r>
          </a:p>
          <a:p xmlns:a="http://schemas.openxmlformats.org/drawingml/2006/main">
            <a:r>
              <a:t>- /Users/hanjeonghyun/dev/2026/for_my_stock/docs/evidence/postgres-market-bars/result.json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정리하면 이번 과제의 필수 범위인 실제 데이터 수집부터 저장까지는 완료했습니다. 다음 미국 정규장에는 WebSocket에서 PostgreSQL까지 한 번에 실행한 증거를 추가하겠습니다. 그다음 FRED와 공식 경제지표 발표 시각을 연결해서 발표 전후 주가 반응을 반복 비교할 계획입니다. 멘토님께는 현재 IEX 범위와 이 규모에서 Spark를 사용하는 근거가 적절한지 피드백을 받고 싶습니다.</a:t>
            </a:r>
          </a:p>
          <a:p xmlns:a="http://schemas.openxmlformats.org/drawingml/2006/main">
            <a:r>
              <a:t/>
            </a:r>
          </a:p>
          <a:p xmlns:a="http://schemas.openxmlformats.org/drawingml/2006/main">
            <a:r>
              <a:t>[Sources]</a:t>
            </a:r>
          </a:p>
          <a:p xmlns:a="http://schemas.openxmlformats.org/drawingml/2006/main">
            <a:r>
              <a:t>- /Users/hanjeonghyun/dev/2026/for_my_stock/README.md</a:t>
            </a:r>
          </a:p>
          <a:p xmlns:a="http://schemas.openxmlformats.org/drawingml/2006/main">
            <a:r>
              <a:t>- /Users/hanjeonghyun/dev/2026/for_my_stock/docs/final-vision.md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521982bb26453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2a91eb07a6e4e1d" /><Relationship Type="http://schemas.openxmlformats.org/officeDocument/2006/relationships/slideLayout" Target="/ppt/slideLayouts/slideLayout1.xml" Id="Rc718fb8ff0c44e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718fb8ff0c44e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6bd84f45bea4a4c" /><Relationship Type="http://schemas.openxmlformats.org/officeDocument/2006/relationships/image" Target="/ppt/media/image.png" Id="R7dc7f43128454b98" /><Relationship Type="http://schemas.openxmlformats.org/officeDocument/2006/relationships/notesSlide" Target="/ppt/notesSlides/notesSlide1.xml" Id="R982ee95cc4bc44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7d014e7cbd448ad" /><Relationship Type="http://schemas.openxmlformats.org/officeDocument/2006/relationships/notesSlide" Target="/ppt/notesSlides/notesSlide2.xml" Id="Rf3cbcdcdbad64d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97e96d3a1d741ba" /><Relationship Type="http://schemas.openxmlformats.org/officeDocument/2006/relationships/image" Target="/ppt/media/image2.png" Id="R16be04d383e74f26" /><Relationship Type="http://schemas.openxmlformats.org/officeDocument/2006/relationships/notesSlide" Target="/ppt/notesSlides/notesSlide3.xml" Id="R0156a4645f6e49a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33e0e52d0e847ac" /><Relationship Type="http://schemas.openxmlformats.org/officeDocument/2006/relationships/notesSlide" Target="/ppt/notesSlides/notesSlide4.xml" Id="Ra7f7968d1ac743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a84d90c79094d5a" /><Relationship Type="http://schemas.openxmlformats.org/officeDocument/2006/relationships/notesSlide" Target="/ppt/notesSlides/notesSlide5.xml" Id="Re59b87695cce46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1bf561c6e2e4932" /><Relationship Type="http://schemas.openxmlformats.org/officeDocument/2006/relationships/image" Target="/ppt/media/image3.png" Id="Ra37be132f364426e" /><Relationship Type="http://schemas.openxmlformats.org/officeDocument/2006/relationships/image" Target="/ppt/media/image4.png" Id="R848e8671080e4811" /><Relationship Type="http://schemas.openxmlformats.org/officeDocument/2006/relationships/notesSlide" Target="/ppt/notesSlides/notesSlide6.xml" Id="R0388ce252560435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fcf397e805b4ee9" /><Relationship Type="http://schemas.openxmlformats.org/officeDocument/2006/relationships/notesSlide" Target="/ppt/notesSlides/notesSlide7.xml" Id="Re68f322ecc6c4cd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9D7C98B-16B2-40E3-BD6D-DEE211C47725}"/>
              </a:ext>
            </a:extLst>
          </p:cNvPr>
          <p:cNvSpPr>
            <a:spLocks xmlns:a="http://schemas.openxmlformats.org/drawingml/2006/main" noGrp="1"/>
          </p:cNvSpPr>
          <p:nvPr/>
        </p:nvSpPr>
        <p:spPr>
          <a:xfrm xmlns:a="http://schemas.openxmlformats.org/drawingml/2006/main">
            <a:off x="533400" y="43815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a:solidFill>
                  <a:srgbClr val="1570EF"/>
                </a:solidFill>
                <a:latin typeface="Apple SD Gothic Neo"/>
                <a:ea typeface="Apple SD Gothic Neo"/>
                <a:cs typeface="Apple SD Gothic Neo"/>
              </a:defRPr>
            </a:pPr>
            <a:r>
              <a:rPr sz="1200" b="1">
                <a:solidFill>
                  <a:srgbClr val="1570EF"/>
                </a:solidFill>
                <a:latin typeface="Apple SD Gothic Neo"/>
                <a:ea typeface="Apple SD Gothic Neo"/>
                <a:cs typeface="Apple SD Gothic Neo"/>
              </a:rPr>
              <a:t>2차시 과제 · 데이터 구조 설계</a:t>
            </a:r>
          </a:p>
        </p:txBody>
      </p:sp>
      <p:sp>
        <p:nvSpPr>
          <p:cNvPr id="2" name="cover-title">
            <a:extLst xmlns:a="http://schemas.openxmlformats.org/drawingml/2006/main">
              <a:ext uri="{FF2B5EF4-FFF2-40B4-BE49-F238E27FC236}">
                <a16:creationId xmlns:a16="http://schemas.microsoft.com/office/drawing/2014/main" id="{89C178F0-DC57-461A-A686-4E300C58A818}"/>
              </a:ext>
            </a:extLst>
          </p:cNvPr>
          <p:cNvSpPr>
            <a:spLocks xmlns:a="http://schemas.openxmlformats.org/drawingml/2006/main" noGrp="1"/>
          </p:cNvSpPr>
          <p:nvPr/>
        </p:nvSpPr>
        <p:spPr>
          <a:xfrm xmlns:a="http://schemas.openxmlformats.org/drawingml/2006/main">
            <a:off x="533400" y="1162050"/>
            <a:ext cx="4762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825" b="1">
                <a:solidFill>
                  <a:srgbClr val="101828"/>
                </a:solidFill>
                <a:latin typeface="Apple SD Gothic Neo"/>
                <a:ea typeface="Apple SD Gothic Neo"/>
                <a:cs typeface="Apple SD Gothic Neo"/>
              </a:defRPr>
            </a:pPr>
            <a:r>
              <a:rPr sz="3825" b="1">
                <a:solidFill>
                  <a:srgbClr val="101828"/>
                </a:solidFill>
                <a:latin typeface="Apple SD Gothic Neo"/>
                <a:ea typeface="Apple SD Gothic Neo"/>
                <a:cs typeface="Apple SD Gothic Neo"/>
              </a:rPr>
              <a:t>실제 미국 주식 거래를</a:t>
            </a:r>
          </a:p>
          <a:p xmlns:a="http://schemas.openxmlformats.org/drawingml/2006/main">
            <a:pPr algn="l">
              <a:defRPr sz="3825" b="1">
                <a:solidFill>
                  <a:srgbClr val="101828"/>
                </a:solidFill>
                <a:latin typeface="Apple SD Gothic Neo"/>
                <a:ea typeface="Apple SD Gothic Neo"/>
                <a:cs typeface="Apple SD Gothic Neo"/>
              </a:defRPr>
            </a:pPr>
            <a:r>
              <a:rPr sz="3825" b="1">
                <a:solidFill>
                  <a:srgbClr val="101828"/>
                </a:solidFill>
                <a:latin typeface="Apple SD Gothic Neo"/>
                <a:ea typeface="Apple SD Gothic Neo"/>
                <a:cs typeface="Apple SD Gothic Neo"/>
              </a:rPr>
              <a:t>1분봉으로 저장했습니다</a:t>
            </a:r>
          </a:p>
        </p:txBody>
      </p:sp>
      <p:sp>
        <p:nvSpPr>
          <p:cNvPr id="3" name="">
            <a:extLst xmlns:a="http://schemas.openxmlformats.org/drawingml/2006/main">
              <a:ext uri="{FF2B5EF4-FFF2-40B4-BE49-F238E27FC236}">
                <a16:creationId xmlns:a16="http://schemas.microsoft.com/office/drawing/2014/main" id="{29C9C91A-D567-4404-B300-DB5CF72F4FB9}"/>
              </a:ext>
            </a:extLst>
          </p:cNvPr>
          <p:cNvSpPr>
            <a:spLocks xmlns:a="http://schemas.openxmlformats.org/drawingml/2006/main" noGrp="1"/>
          </p:cNvSpPr>
          <p:nvPr/>
        </p:nvSpPr>
        <p:spPr>
          <a:xfrm xmlns:a="http://schemas.openxmlformats.org/drawingml/2006/main">
            <a:off x="533400" y="31813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01828"/>
                </a:solidFill>
                <a:latin typeface="Apple SD Gothic Neo"/>
                <a:ea typeface="Apple SD Gothic Neo"/>
                <a:cs typeface="Apple SD Gothic Neo"/>
              </a:defRPr>
            </a:pPr>
            <a:r>
              <a:rPr sz="1725" b="1">
                <a:solidFill>
                  <a:srgbClr val="101828"/>
                </a:solidFill>
                <a:latin typeface="Apple SD Gothic Neo"/>
                <a:ea typeface="Apple SD Gothic Neo"/>
                <a:cs typeface="Apple SD Gothic Neo"/>
              </a:rPr>
              <a:t>U.S. Macro Impact &amp; Market Data Pipeline</a:t>
            </a:r>
          </a:p>
        </p:txBody>
      </p:sp>
      <p:sp>
        <p:nvSpPr>
          <p:cNvPr id="4" name="">
            <a:extLst xmlns:a="http://schemas.openxmlformats.org/drawingml/2006/main">
              <a:ext uri="{FF2B5EF4-FFF2-40B4-BE49-F238E27FC236}">
                <a16:creationId xmlns:a16="http://schemas.microsoft.com/office/drawing/2014/main" id="{CA237F0A-306C-4CAE-B37E-0CF5FA67968B}"/>
              </a:ext>
            </a:extLst>
          </p:cNvPr>
          <p:cNvSpPr>
            <a:spLocks xmlns:a="http://schemas.openxmlformats.org/drawingml/2006/main" noGrp="1"/>
          </p:cNvSpPr>
          <p:nvPr/>
        </p:nvSpPr>
        <p:spPr>
          <a:xfrm xmlns:a="http://schemas.openxmlformats.org/drawingml/2006/main">
            <a:off x="533400" y="3724275"/>
            <a:ext cx="4857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667085"/>
                </a:solidFill>
                <a:latin typeface="Apple SD Gothic Neo"/>
                <a:ea typeface="Apple SD Gothic Neo"/>
                <a:cs typeface="Apple SD Gothic Neo"/>
              </a:defRPr>
            </a:pPr>
            <a:r>
              <a:rPr sz="1575" b="0">
                <a:solidFill>
                  <a:srgbClr val="667085"/>
                </a:solidFill>
                <a:latin typeface="Apple SD Gothic Neo"/>
                <a:ea typeface="Apple SD Gothic Neo"/>
                <a:cs typeface="Apple SD Gothic Neo"/>
              </a:rPr>
              <a:t>이번 범위: 실제 데이터 소스 → Ingestion → Data Storage</a:t>
            </a:r>
          </a:p>
        </p:txBody>
      </p:sp>
      <p:sp>
        <p:nvSpPr>
          <p:cNvPr id="5" name="">
            <a:extLst xmlns:a="http://schemas.openxmlformats.org/drawingml/2006/main">
              <a:ext uri="{FF2B5EF4-FFF2-40B4-BE49-F238E27FC236}">
                <a16:creationId xmlns:a16="http://schemas.microsoft.com/office/drawing/2014/main" id="{F9E6FE64-9909-4FD2-8171-15956A87B112}"/>
              </a:ext>
            </a:extLst>
          </p:cNvPr>
          <p:cNvSpPr>
            <a:spLocks xmlns:a="http://schemas.openxmlformats.org/drawingml/2006/main" noGrp="1"/>
          </p:cNvSpPr>
          <p:nvPr/>
        </p:nvSpPr>
        <p:spPr>
          <a:xfrm xmlns:a="http://schemas.openxmlformats.org/drawingml/2006/main">
            <a:off x="533400" y="5219700"/>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1570EF"/>
                </a:solidFill>
                <a:latin typeface="Apple SD Gothic Neo"/>
                <a:ea typeface="Apple SD Gothic Neo"/>
                <a:cs typeface="Apple SD Gothic Neo"/>
              </a:defRPr>
            </a:pPr>
            <a:r>
              <a:rPr sz="1350" b="1">
                <a:solidFill>
                  <a:srgbClr val="1570EF"/>
                </a:solidFill>
                <a:latin typeface="Apple SD Gothic Neo"/>
                <a:ea typeface="Apple SD Gothic Neo"/>
                <a:cs typeface="Apple SD Gothic Neo"/>
              </a:rPr>
              <a:t>Alpaca · Kafka · Spark Structured Streaming · PostgreSQL</a:t>
            </a:r>
          </a:p>
        </p:txBody>
      </p:sp>
      <p:sp>
        <p:nvSpPr>
          <p:cNvPr id="6" name="">
            <a:extLst xmlns:a="http://schemas.openxmlformats.org/drawingml/2006/main">
              <a:ext uri="{FF2B5EF4-FFF2-40B4-BE49-F238E27FC236}">
                <a16:creationId xmlns:a16="http://schemas.microsoft.com/office/drawing/2014/main" id="{F0D10E54-B3DF-486E-AE2E-5E48F5F0DC45}"/>
              </a:ext>
            </a:extLst>
          </p:cNvPr>
          <p:cNvSpPr>
            <a:spLocks xmlns:a="http://schemas.openxmlformats.org/drawingml/2006/main" noGrp="1"/>
          </p:cNvSpPr>
          <p:nvPr/>
        </p:nvSpPr>
        <p:spPr>
          <a:xfrm xmlns:a="http://schemas.openxmlformats.org/drawingml/2006/main">
            <a:off x="5943600" y="457200"/>
            <a:ext cx="5715000" cy="5581650"/>
          </a:xfrm>
          <a:prstGeom xmlns:a="http://schemas.openxmlformats.org/drawingml/2006/main" prst="rect">
            <a:avLst/>
          </a:prstGeom>
          <a:solidFill xmlns:a="http://schemas.openxmlformats.org/drawingml/2006/main">
            <a:srgbClr val="F2F4F7"/>
          </a:solidFill>
          <a:ln xmlns:a="http://schemas.openxmlformats.org/drawingml/2006/main" w="9525">
            <a:solidFill>
              <a:srgbClr val="D0D5DD"/>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dc7f43128454b98"/>
          <a:stretch xmlns:a="http://schemas.openxmlformats.org/drawingml/2006/main"/>
        </p:blipFill>
        <p:spPr>
          <a:xfrm xmlns:a="http://schemas.openxmlformats.org/drawingml/2006/main">
            <a:off x="6076950" y="1296591"/>
            <a:ext cx="5448300" cy="3064669"/>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4B8B95B-8DFB-4369-A20D-850DB25752C8}"/>
              </a:ext>
            </a:extLst>
          </p:cNvPr>
          <p:cNvSpPr>
            <a:spLocks xmlns:a="http://schemas.openxmlformats.org/drawingml/2006/main" noGrp="1"/>
          </p:cNvSpPr>
          <p:nvPr/>
        </p:nvSpPr>
        <p:spPr>
          <a:xfrm xmlns:a="http://schemas.openxmlformats.org/drawingml/2006/main">
            <a:off x="6210300" y="723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l">
              <a:defRPr sz="1725" b="1">
                <a:solidFill>
                  <a:srgbClr val="1570EF"/>
                </a:solidFill>
                <a:latin typeface="Apple SD Gothic Neo"/>
                <a:ea typeface="Apple SD Gothic Neo"/>
                <a:cs typeface="Apple SD Gothic Neo"/>
              </a:defRPr>
            </a:pPr>
            <a:r>
              <a:rPr sz="1725" b="1">
                <a:solidFill>
                  <a:srgbClr val="1570EF"/>
                </a:solidFill>
                <a:latin typeface="Apple SD Gothic Neo"/>
                <a:ea typeface="Apple SD Gothic Neo"/>
                <a:cs typeface="Apple SD Gothic Neo"/>
              </a:rPr>
              <a:t>실행 증거</a:t>
            </a:r>
          </a:p>
        </p:txBody>
      </p:sp>
      <p:sp>
        <p:nvSpPr>
          <p:cNvPr id="9" name="">
            <a:extLst xmlns:a="http://schemas.openxmlformats.org/drawingml/2006/main">
              <a:ext uri="{FF2B5EF4-FFF2-40B4-BE49-F238E27FC236}">
                <a16:creationId xmlns:a16="http://schemas.microsoft.com/office/drawing/2014/main" id="{DF7B22CE-164C-4FB7-941E-33FD6B32FE44}"/>
              </a:ext>
            </a:extLst>
          </p:cNvPr>
          <p:cNvSpPr>
            <a:spLocks xmlns:a="http://schemas.openxmlformats.org/drawingml/2006/main" noGrp="1"/>
          </p:cNvSpPr>
          <p:nvPr/>
        </p:nvSpPr>
        <p:spPr>
          <a:xfrm xmlns:a="http://schemas.openxmlformats.org/drawingml/2006/main">
            <a:off x="6210300" y="4686300"/>
            <a:ext cx="5048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101828"/>
                </a:solidFill>
                <a:latin typeface="Apple SD Gothic Neo"/>
                <a:ea typeface="Apple SD Gothic Neo"/>
                <a:cs typeface="Apple SD Gothic Neo"/>
              </a:defRPr>
            </a:pPr>
            <a:r>
              <a:rPr sz="1425" b="0">
                <a:solidFill>
                  <a:srgbClr val="101828"/>
                </a:solidFill>
                <a:latin typeface="Apple SD Gothic Neo"/>
                <a:ea typeface="Apple SD Gothic Neo"/>
                <a:cs typeface="Apple SD Gothic Neo"/>
              </a:rPr>
              <a:t>Kafka raw storage와 PostgreSQL processed storage가 모두 healthy이며, 원본 토픽 오프셋도 확인했습니다.</a:t>
            </a:r>
          </a:p>
        </p:txBody>
      </p:sp>
      <p:sp>
        <p:nvSpPr>
          <p:cNvPr id="10" name="">
            <a:extLst xmlns:a="http://schemas.openxmlformats.org/drawingml/2006/main">
              <a:ext uri="{FF2B5EF4-FFF2-40B4-BE49-F238E27FC236}">
                <a16:creationId xmlns:a16="http://schemas.microsoft.com/office/drawing/2014/main" id="{ACA709D5-AEB1-40AA-97EB-B42AAF3A5C05}"/>
              </a:ext>
            </a:extLst>
          </p:cNvPr>
          <p:cNvSpPr>
            <a:spLocks xmlns:a="http://schemas.openxmlformats.org/drawingml/2006/main" noGrp="1"/>
          </p:cNvSpPr>
          <p:nvPr/>
        </p:nvSpPr>
        <p:spPr>
          <a:xfrm xmlns:a="http://schemas.openxmlformats.org/drawingml/2006/main">
            <a:off x="11182350" y="64008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667085"/>
                </a:solidFill>
                <a:latin typeface="Apple SD Gothic Neo"/>
                <a:ea typeface="Apple SD Gothic Neo"/>
                <a:cs typeface="Apple SD Gothic Neo"/>
              </a:defRPr>
            </a:pPr>
            <a:r>
              <a:rPr sz="900" b="0">
                <a:solidFill>
                  <a:srgbClr val="667085"/>
                </a:solidFill>
                <a:latin typeface="Apple SD Gothic Neo"/>
                <a:ea typeface="Apple SD Gothic Neo"/>
                <a:cs typeface="Apple SD Gothic Neo"/>
              </a:rPr>
              <a:t>01</a:t>
            </a:r>
          </a:p>
        </p:txBody>
      </p:sp>
    </p:spTree>
    <p:extLst>
      <p:ext uri="{BB962C8B-B14F-4D97-AF65-F5344CB8AC3E}">
        <p14:creationId xmlns:p14="http://schemas.microsoft.com/office/powerpoint/2010/main" val="78450402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eyebrow-2">
            <a:extLst xmlns:a="http://schemas.openxmlformats.org/drawingml/2006/main">
              <a:ext uri="{FF2B5EF4-FFF2-40B4-BE49-F238E27FC236}">
                <a16:creationId xmlns:a16="http://schemas.microsoft.com/office/drawing/2014/main" id="{4CC2D71C-2C37-4AF4-AC80-E699ADAF771C}"/>
              </a:ext>
            </a:extLst>
          </p:cNvPr>
          <p:cNvSpPr>
            <a:spLocks xmlns:a="http://schemas.openxmlformats.org/drawingml/2006/main" noGrp="1"/>
          </p:cNvSpPr>
          <p:nvPr/>
        </p:nvSpPr>
        <p:spPr>
          <a:xfrm xmlns:a="http://schemas.openxmlformats.org/drawingml/2006/main">
            <a:off x="533400" y="361950"/>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p xmlns:a="http://schemas.openxmlformats.org/drawingml/2006/main">
            <a:pPr algn="l">
              <a:defRPr sz="1125" b="1">
                <a:solidFill>
                  <a:srgbClr val="1570EF"/>
                </a:solidFill>
                <a:latin typeface="Apple SD Gothic Neo"/>
                <a:ea typeface="Apple SD Gothic Neo"/>
                <a:cs typeface="Apple SD Gothic Neo"/>
              </a:defRPr>
            </a:pPr>
            <a:r>
              <a:rPr sz="1125" b="1">
                <a:solidFill>
                  <a:srgbClr val="1570EF"/>
                </a:solidFill>
                <a:latin typeface="Apple SD Gothic Neo"/>
                <a:ea typeface="Apple SD Gothic Neo"/>
                <a:cs typeface="Apple SD Gothic Neo"/>
              </a:rPr>
              <a:t>DATASET</a:t>
            </a:r>
          </a:p>
        </p:txBody>
      </p:sp>
      <p:sp>
        <p:nvSpPr>
          <p:cNvPr id="2" name="title-2">
            <a:extLst xmlns:a="http://schemas.openxmlformats.org/drawingml/2006/main">
              <a:ext uri="{FF2B5EF4-FFF2-40B4-BE49-F238E27FC236}">
                <a16:creationId xmlns:a16="http://schemas.microsoft.com/office/drawing/2014/main" id="{9FC9209F-2C5B-47A4-8A75-55F6D4D7F2D6}"/>
              </a:ext>
            </a:extLst>
          </p:cNvPr>
          <p:cNvSpPr>
            <a:spLocks xmlns:a="http://schemas.openxmlformats.org/drawingml/2006/main" noGrp="1"/>
          </p:cNvSpPr>
          <p:nvPr/>
        </p:nvSpPr>
        <p:spPr>
          <a:xfrm xmlns:a="http://schemas.openxmlformats.org/drawingml/2006/main">
            <a:off x="533400" y="685800"/>
            <a:ext cx="10572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101828"/>
                </a:solidFill>
                <a:latin typeface="Apple SD Gothic Neo"/>
                <a:ea typeface="Apple SD Gothic Neo"/>
                <a:cs typeface="Apple SD Gothic Neo"/>
              </a:defRPr>
            </a:pPr>
            <a:r>
              <a:rPr sz="2850" b="1">
                <a:solidFill>
                  <a:srgbClr val="101828"/>
                </a:solidFill>
                <a:latin typeface="Apple SD Gothic Neo"/>
                <a:ea typeface="Apple SD Gothic Neo"/>
                <a:cs typeface="Apple SD Gothic Neo"/>
              </a:rPr>
              <a:t>같은 실제 거래를 실시간과 재현 가능한 방식으로 수집합니다</a:t>
            </a:r>
          </a:p>
        </p:txBody>
      </p:sp>
      <p:sp>
        <p:nvSpPr>
          <p:cNvPr id="3" name="">
            <a:extLst xmlns:a="http://schemas.openxmlformats.org/drawingml/2006/main">
              <a:ext uri="{FF2B5EF4-FFF2-40B4-BE49-F238E27FC236}">
                <a16:creationId xmlns:a16="http://schemas.microsoft.com/office/drawing/2014/main" id="{D8F5A955-0F33-47DC-928B-1A5BD399D644}"/>
              </a:ext>
            </a:extLst>
          </p:cNvPr>
          <p:cNvSpPr>
            <a:spLocks xmlns:a="http://schemas.openxmlformats.org/drawingml/2006/main" noGrp="1"/>
          </p:cNvSpPr>
          <p:nvPr/>
        </p:nvSpPr>
        <p:spPr>
          <a:xfrm xmlns:a="http://schemas.openxmlformats.org/drawingml/2006/main">
            <a:off x="533400" y="1457325"/>
            <a:ext cx="11125200" cy="0"/>
          </a:xfrm>
          <a:prstGeom xmlns:a="http://schemas.openxmlformats.org/drawingml/2006/main" prst="line">
            <a:avLst/>
          </a:prstGeom>
          <a:noFill xmlns:a="http://schemas.openxmlformats.org/drawingml/2006/main"/>
          <a:ln xmlns:a="http://schemas.openxmlformats.org/drawingml/2006/main" w="19050">
            <a:solidFill>
              <a:srgbClr val="101828"/>
            </a:solidFill>
            <a:prstDash val="solid"/>
          </a:ln>
        </p:spPr>
      </p:sp>
      <p:sp>
        <p:nvSpPr>
          <p:cNvPr id="4" name="">
            <a:extLst xmlns:a="http://schemas.openxmlformats.org/drawingml/2006/main">
              <a:ext uri="{FF2B5EF4-FFF2-40B4-BE49-F238E27FC236}">
                <a16:creationId xmlns:a16="http://schemas.microsoft.com/office/drawing/2014/main" id="{407A6850-B95A-46BC-BAB2-1C0762173A19}"/>
              </a:ext>
            </a:extLst>
          </p:cNvPr>
          <p:cNvSpPr>
            <a:spLocks xmlns:a="http://schemas.openxmlformats.org/drawingml/2006/main" noGrp="1"/>
          </p:cNvSpPr>
          <p:nvPr/>
        </p:nvSpPr>
        <p:spPr>
          <a:xfrm xmlns:a="http://schemas.openxmlformats.org/drawingml/2006/main">
            <a:off x="11182350" y="64008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667085"/>
                </a:solidFill>
                <a:latin typeface="Apple SD Gothic Neo"/>
                <a:ea typeface="Apple SD Gothic Neo"/>
                <a:cs typeface="Apple SD Gothic Neo"/>
              </a:defRPr>
            </a:pPr>
            <a:r>
              <a:rPr sz="900" b="0">
                <a:solidFill>
                  <a:srgbClr val="667085"/>
                </a:solidFill>
                <a:latin typeface="Apple SD Gothic Neo"/>
                <a:ea typeface="Apple SD Gothic Neo"/>
                <a:cs typeface="Apple SD Gothic Neo"/>
              </a:rPr>
              <a:t>02</a:t>
            </a:r>
          </a:p>
        </p:txBody>
      </p:sp>
      <p:sp>
        <p:nvSpPr>
          <p:cNvPr id="5" name="">
            <a:extLst xmlns:a="http://schemas.openxmlformats.org/drawingml/2006/main">
              <a:ext uri="{FF2B5EF4-FFF2-40B4-BE49-F238E27FC236}">
                <a16:creationId xmlns:a16="http://schemas.microsoft.com/office/drawing/2014/main" id="{FB927F57-EA7B-45E3-AB62-781C14B6EE08}"/>
              </a:ext>
            </a:extLst>
          </p:cNvPr>
          <p:cNvSpPr>
            <a:spLocks xmlns:a="http://schemas.openxmlformats.org/drawingml/2006/main" noGrp="1"/>
          </p:cNvSpPr>
          <p:nvPr/>
        </p:nvSpPr>
        <p:spPr>
          <a:xfrm xmlns:a="http://schemas.openxmlformats.org/drawingml/2006/main">
            <a:off x="647700" y="1952625"/>
            <a:ext cx="485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a:solidFill>
                  <a:srgbClr val="1570EF"/>
                </a:solidFill>
                <a:latin typeface="Apple SD Gothic Neo"/>
                <a:ea typeface="Apple SD Gothic Neo"/>
                <a:cs typeface="Apple SD Gothic Neo"/>
              </a:defRPr>
            </a:pPr>
            <a:r>
              <a:rPr sz="2100" b="1">
                <a:solidFill>
                  <a:srgbClr val="1570EF"/>
                </a:solidFill>
                <a:latin typeface="Apple SD Gothic Neo"/>
                <a:ea typeface="Apple SD Gothic Neo"/>
                <a:cs typeface="Apple SD Gothic Neo"/>
              </a:rPr>
              <a:t>실시간 수집</a:t>
            </a:r>
          </a:p>
        </p:txBody>
      </p:sp>
      <p:sp>
        <p:nvSpPr>
          <p:cNvPr id="6" name="">
            <a:extLst xmlns:a="http://schemas.openxmlformats.org/drawingml/2006/main">
              <a:ext uri="{FF2B5EF4-FFF2-40B4-BE49-F238E27FC236}">
                <a16:creationId xmlns:a16="http://schemas.microsoft.com/office/drawing/2014/main" id="{421550E1-D482-4391-9A6F-EE428A1C2F18}"/>
              </a:ext>
            </a:extLst>
          </p:cNvPr>
          <p:cNvSpPr>
            <a:spLocks xmlns:a="http://schemas.openxmlformats.org/drawingml/2006/main" noGrp="1"/>
          </p:cNvSpPr>
          <p:nvPr/>
        </p:nvSpPr>
        <p:spPr>
          <a:xfrm xmlns:a="http://schemas.openxmlformats.org/drawingml/2006/main">
            <a:off x="647700" y="2543175"/>
            <a:ext cx="4810125"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101828"/>
                </a:solidFill>
                <a:latin typeface="Apple SD Gothic Neo"/>
                <a:ea typeface="Apple SD Gothic Neo"/>
                <a:cs typeface="Apple SD Gothic Neo"/>
              </a:defRPr>
            </a:pPr>
            <a:r>
              <a:rPr sz="1650" b="0">
                <a:solidFill>
                  <a:srgbClr val="101828"/>
                </a:solidFill>
                <a:latin typeface="Apple SD Gothic Neo"/>
                <a:ea typeface="Apple SD Gothic Neo"/>
                <a:cs typeface="Apple SD Gothic Neo"/>
              </a:rPr>
              <a:t>Alpaca IEX WebSocket</a:t>
            </a:r>
          </a:p>
          <a:p xmlns:a="http://schemas.openxmlformats.org/drawingml/2006/main">
            <a:r>
              <a:t/>
            </a:r>
          </a:p>
          <a:p xmlns:a="http://schemas.openxmlformats.org/drawingml/2006/main">
            <a:pPr algn="l">
              <a:defRPr sz="1650" b="0">
                <a:solidFill>
                  <a:srgbClr val="101828"/>
                </a:solidFill>
                <a:latin typeface="Apple SD Gothic Neo"/>
                <a:ea typeface="Apple SD Gothic Neo"/>
                <a:cs typeface="Apple SD Gothic Neo"/>
              </a:defRPr>
            </a:pPr>
            <a:r>
              <a:rPr sz="1650" b="0">
                <a:solidFill>
                  <a:srgbClr val="101828"/>
                </a:solidFill>
                <a:latin typeface="Apple SD Gothic Neo"/>
                <a:ea typeface="Apple SD Gothic Neo"/>
                <a:cs typeface="Apple SD Gothic Neo"/>
              </a:rPr>
              <a:t>• SPY · QQQ · NVDA 등 약 22종목</a:t>
            </a:r>
          </a:p>
          <a:p xmlns:a="http://schemas.openxmlformats.org/drawingml/2006/main">
            <a:pPr algn="l">
              <a:defRPr sz="1650" b="0">
                <a:solidFill>
                  <a:srgbClr val="101828"/>
                </a:solidFill>
                <a:latin typeface="Apple SD Gothic Neo"/>
                <a:ea typeface="Apple SD Gothic Neo"/>
                <a:cs typeface="Apple SD Gothic Neo"/>
              </a:defRPr>
            </a:pPr>
            <a:r>
              <a:rPr sz="1650" b="0">
                <a:solidFill>
                  <a:srgbClr val="101828"/>
                </a:solidFill>
                <a:latin typeface="Apple SD Gothic Neo"/>
                <a:ea typeface="Apple SD Gothic Neo"/>
                <a:cs typeface="Apple SD Gothic Neo"/>
              </a:rPr>
              <a:t>• 거래 가격, 수량, 거래소, 조건, 거래 시각</a:t>
            </a:r>
          </a:p>
          <a:p xmlns:a="http://schemas.openxmlformats.org/drawingml/2006/main">
            <a:pPr algn="l">
              <a:defRPr sz="1650" b="0">
                <a:solidFill>
                  <a:srgbClr val="101828"/>
                </a:solidFill>
                <a:latin typeface="Apple SD Gothic Neo"/>
                <a:ea typeface="Apple SD Gothic Neo"/>
                <a:cs typeface="Apple SD Gothic Neo"/>
              </a:defRPr>
            </a:pPr>
            <a:r>
              <a:rPr sz="1650" b="0">
                <a:solidFill>
                  <a:srgbClr val="101828"/>
                </a:solidFill>
                <a:latin typeface="Apple SD Gothic Neo"/>
                <a:ea typeface="Apple SD Gothic Neo"/>
                <a:cs typeface="Apple SD Gothic Neo"/>
              </a:rPr>
              <a:t>• 장 운영 중 들어오는 실제 trade를 Kafka로 전달</a:t>
            </a:r>
          </a:p>
        </p:txBody>
      </p:sp>
      <p:sp>
        <p:nvSpPr>
          <p:cNvPr id="7" name="">
            <a:extLst xmlns:a="http://schemas.openxmlformats.org/drawingml/2006/main">
              <a:ext uri="{FF2B5EF4-FFF2-40B4-BE49-F238E27FC236}">
                <a16:creationId xmlns:a16="http://schemas.microsoft.com/office/drawing/2014/main" id="{28FA49EA-D160-45CA-BF31-F57F56239D40}"/>
              </a:ext>
            </a:extLst>
          </p:cNvPr>
          <p:cNvSpPr>
            <a:spLocks xmlns:a="http://schemas.openxmlformats.org/drawingml/2006/main" noGrp="1"/>
          </p:cNvSpPr>
          <p:nvPr/>
        </p:nvSpPr>
        <p:spPr>
          <a:xfrm xmlns:a="http://schemas.openxmlformats.org/drawingml/2006/main">
            <a:off x="6324600" y="1952625"/>
            <a:ext cx="485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a:solidFill>
                  <a:srgbClr val="067647"/>
                </a:solidFill>
                <a:latin typeface="Apple SD Gothic Neo"/>
                <a:ea typeface="Apple SD Gothic Neo"/>
                <a:cs typeface="Apple SD Gothic Neo"/>
              </a:defRPr>
            </a:pPr>
            <a:r>
              <a:rPr sz="2100" b="1">
                <a:solidFill>
                  <a:srgbClr val="067647"/>
                </a:solidFill>
                <a:latin typeface="Apple SD Gothic Neo"/>
                <a:ea typeface="Apple SD Gothic Neo"/>
                <a:cs typeface="Apple SD Gothic Neo"/>
              </a:rPr>
              <a:t>재현 가능한 수집</a:t>
            </a:r>
          </a:p>
        </p:txBody>
      </p:sp>
      <p:sp>
        <p:nvSpPr>
          <p:cNvPr id="8" name="">
            <a:extLst xmlns:a="http://schemas.openxmlformats.org/drawingml/2006/main">
              <a:ext uri="{FF2B5EF4-FFF2-40B4-BE49-F238E27FC236}">
                <a16:creationId xmlns:a16="http://schemas.microsoft.com/office/drawing/2014/main" id="{420796CA-A9C8-4FC1-9607-C9396AE81295}"/>
              </a:ext>
            </a:extLst>
          </p:cNvPr>
          <p:cNvSpPr>
            <a:spLocks xmlns:a="http://schemas.openxmlformats.org/drawingml/2006/main" noGrp="1"/>
          </p:cNvSpPr>
          <p:nvPr/>
        </p:nvSpPr>
        <p:spPr>
          <a:xfrm xmlns:a="http://schemas.openxmlformats.org/drawingml/2006/main">
            <a:off x="6324600" y="2543175"/>
            <a:ext cx="4810125"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101828"/>
                </a:solidFill>
                <a:latin typeface="Apple SD Gothic Neo"/>
                <a:ea typeface="Apple SD Gothic Neo"/>
                <a:cs typeface="Apple SD Gothic Neo"/>
              </a:defRPr>
            </a:pPr>
            <a:r>
              <a:rPr sz="1650" b="0">
                <a:solidFill>
                  <a:srgbClr val="101828"/>
                </a:solidFill>
                <a:latin typeface="Apple SD Gothic Neo"/>
                <a:ea typeface="Apple SD Gothic Neo"/>
                <a:cs typeface="Apple SD Gothic Neo"/>
              </a:rPr>
              <a:t>Alpaca Historical Trades REST</a:t>
            </a:r>
          </a:p>
          <a:p xmlns:a="http://schemas.openxmlformats.org/drawingml/2006/main">
            <a:r>
              <a:t/>
            </a:r>
          </a:p>
          <a:p xmlns:a="http://schemas.openxmlformats.org/drawingml/2006/main">
            <a:pPr algn="l">
              <a:defRPr sz="1650" b="0">
                <a:solidFill>
                  <a:srgbClr val="101828"/>
                </a:solidFill>
                <a:latin typeface="Apple SD Gothic Neo"/>
                <a:ea typeface="Apple SD Gothic Neo"/>
                <a:cs typeface="Apple SD Gothic Neo"/>
              </a:defRPr>
            </a:pPr>
            <a:r>
              <a:rPr sz="1650" b="0">
                <a:solidFill>
                  <a:srgbClr val="101828"/>
                </a:solidFill>
                <a:latin typeface="Apple SD Gothic Neo"/>
                <a:ea typeface="Apple SD Gothic Neo"/>
                <a:cs typeface="Apple SD Gothic Neo"/>
              </a:rPr>
              <a:t>• WebSocket과 같은 실제 trade field 사용</a:t>
            </a:r>
          </a:p>
          <a:p xmlns:a="http://schemas.openxmlformats.org/drawingml/2006/main">
            <a:pPr algn="l">
              <a:defRPr sz="1650" b="0">
                <a:solidFill>
                  <a:srgbClr val="101828"/>
                </a:solidFill>
                <a:latin typeface="Apple SD Gothic Neo"/>
                <a:ea typeface="Apple SD Gothic Neo"/>
                <a:cs typeface="Apple SD Gothic Neo"/>
              </a:defRPr>
            </a:pPr>
            <a:r>
              <a:rPr sz="1650" b="0">
                <a:solidFill>
                  <a:srgbClr val="101828"/>
                </a:solidFill>
                <a:latin typeface="Apple SD Gothic Neo"/>
                <a:ea typeface="Apple SD Gothic Neo"/>
                <a:cs typeface="Apple SD Gothic Neo"/>
              </a:rPr>
              <a:t>• 장 종료 후에도 구간을 정해 다시 실행 가능</a:t>
            </a:r>
          </a:p>
          <a:p xmlns:a="http://schemas.openxmlformats.org/drawingml/2006/main">
            <a:pPr algn="l">
              <a:defRPr sz="1650" b="0">
                <a:solidFill>
                  <a:srgbClr val="101828"/>
                </a:solidFill>
                <a:latin typeface="Apple SD Gothic Neo"/>
                <a:ea typeface="Apple SD Gothic Neo"/>
                <a:cs typeface="Apple SD Gothic Neo"/>
              </a:defRPr>
            </a:pPr>
            <a:r>
              <a:rPr sz="1650" b="0">
                <a:solidFill>
                  <a:srgbClr val="101828"/>
                </a:solidFill>
                <a:latin typeface="Apple SD Gothic Neo"/>
                <a:ea typeface="Apple SD Gothic Neo"/>
                <a:cs typeface="Apple SD Gothic Neo"/>
              </a:rPr>
              <a:t>• 고정 fixture는 중복·지연·오류 자동 테스트에만 사용</a:t>
            </a:r>
          </a:p>
        </p:txBody>
      </p:sp>
      <p:sp>
        <p:nvSpPr>
          <p:cNvPr id="9" name="">
            <a:extLst xmlns:a="http://schemas.openxmlformats.org/drawingml/2006/main">
              <a:ext uri="{FF2B5EF4-FFF2-40B4-BE49-F238E27FC236}">
                <a16:creationId xmlns:a16="http://schemas.microsoft.com/office/drawing/2014/main" id="{8820955C-4CDD-42C1-A95E-3B09224D2B1E}"/>
              </a:ext>
            </a:extLst>
          </p:cNvPr>
          <p:cNvSpPr>
            <a:spLocks xmlns:a="http://schemas.openxmlformats.org/drawingml/2006/main" noGrp="1"/>
          </p:cNvSpPr>
          <p:nvPr/>
        </p:nvSpPr>
        <p:spPr>
          <a:xfrm xmlns:a="http://schemas.openxmlformats.org/drawingml/2006/main">
            <a:off x="647700" y="5819775"/>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7F56D9"/>
                </a:solidFill>
                <a:latin typeface="Apple SD Gothic Neo"/>
                <a:ea typeface="Apple SD Gothic Neo"/>
                <a:cs typeface="Apple SD Gothic Neo"/>
              </a:defRPr>
            </a:pPr>
            <a:r>
              <a:rPr sz="1350" b="1">
                <a:solidFill>
                  <a:srgbClr val="7F56D9"/>
                </a:solidFill>
                <a:latin typeface="Apple SD Gothic Neo"/>
                <a:ea typeface="Apple SD Gothic Neo"/>
                <a:cs typeface="Apple SD Gothic Neo"/>
              </a:rPr>
              <a:t>무료 IEX는 미국 전체 거래소가 아니므로 결과를 전체 시장으로 확대 해석하지 않습니다.</a:t>
            </a:r>
          </a:p>
        </p:txBody>
      </p:sp>
    </p:spTree>
    <p:extLst>
      <p:ext uri="{BB962C8B-B14F-4D97-AF65-F5344CB8AC3E}">
        <p14:creationId xmlns:p14="http://schemas.microsoft.com/office/powerpoint/2010/main" val="29789718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6be04d383e74f26"/>
          <a:stretch xmlns:a="http://schemas.openxmlformats.org/drawingml/2006/main"/>
        </p:blipFill>
        <p:spPr>
          <a:xfrm xmlns:a="http://schemas.openxmlformats.org/drawingml/2006/main">
            <a:off x="449179" y="76200"/>
            <a:ext cx="11293642" cy="6705600"/>
          </a:xfrm>
          <a:prstGeom xmlns:a="http://schemas.openxmlformats.org/drawingml/2006/main" prst="rect">
            <a:avLst/>
          </a:prstGeom>
        </p:spPr>
      </p:pic>
    </p:spTree>
    <p:extLst>
      <p:ext uri="{BB962C8B-B14F-4D97-AF65-F5344CB8AC3E}">
        <p14:creationId xmlns:p14="http://schemas.microsoft.com/office/powerpoint/2010/main" val="134431330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eyebrow-4">
            <a:extLst xmlns:a="http://schemas.openxmlformats.org/drawingml/2006/main">
              <a:ext uri="{FF2B5EF4-FFF2-40B4-BE49-F238E27FC236}">
                <a16:creationId xmlns:a16="http://schemas.microsoft.com/office/drawing/2014/main" id="{710D3FBF-757E-4E27-BB62-898B9CB2E669}"/>
              </a:ext>
            </a:extLst>
          </p:cNvPr>
          <p:cNvSpPr>
            <a:spLocks xmlns:a="http://schemas.openxmlformats.org/drawingml/2006/main" noGrp="1"/>
          </p:cNvSpPr>
          <p:nvPr/>
        </p:nvSpPr>
        <p:spPr>
          <a:xfrm xmlns:a="http://schemas.openxmlformats.org/drawingml/2006/main">
            <a:off x="533400" y="361950"/>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p xmlns:a="http://schemas.openxmlformats.org/drawingml/2006/main">
            <a:pPr algn="l">
              <a:defRPr sz="1125" b="1">
                <a:solidFill>
                  <a:srgbClr val="1570EF"/>
                </a:solidFill>
                <a:latin typeface="Apple SD Gothic Neo"/>
                <a:ea typeface="Apple SD Gothic Neo"/>
                <a:cs typeface="Apple SD Gothic Neo"/>
              </a:defRPr>
            </a:pPr>
            <a:r>
              <a:rPr sz="1125" b="1">
                <a:solidFill>
                  <a:srgbClr val="1570EF"/>
                </a:solidFill>
                <a:latin typeface="Apple SD Gothic Neo"/>
                <a:ea typeface="Apple SD Gothic Neo"/>
                <a:cs typeface="Apple SD Gothic Neo"/>
              </a:rPr>
              <a:t>WHY THIS STACK</a:t>
            </a:r>
          </a:p>
        </p:txBody>
      </p:sp>
      <p:sp>
        <p:nvSpPr>
          <p:cNvPr id="2" name="title-4">
            <a:extLst xmlns:a="http://schemas.openxmlformats.org/drawingml/2006/main">
              <a:ext uri="{FF2B5EF4-FFF2-40B4-BE49-F238E27FC236}">
                <a16:creationId xmlns:a16="http://schemas.microsoft.com/office/drawing/2014/main" id="{AA5FF86B-AB8E-4AB2-84D9-B58DCD6BF12F}"/>
              </a:ext>
            </a:extLst>
          </p:cNvPr>
          <p:cNvSpPr>
            <a:spLocks xmlns:a="http://schemas.openxmlformats.org/drawingml/2006/main" noGrp="1"/>
          </p:cNvSpPr>
          <p:nvPr/>
        </p:nvSpPr>
        <p:spPr>
          <a:xfrm xmlns:a="http://schemas.openxmlformats.org/drawingml/2006/main">
            <a:off x="533400" y="685800"/>
            <a:ext cx="10572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101828"/>
                </a:solidFill>
                <a:latin typeface="Apple SD Gothic Neo"/>
                <a:ea typeface="Apple SD Gothic Neo"/>
                <a:cs typeface="Apple SD Gothic Neo"/>
              </a:defRPr>
            </a:pPr>
            <a:r>
              <a:rPr sz="2850" b="1">
                <a:solidFill>
                  <a:srgbClr val="101828"/>
                </a:solidFill>
                <a:latin typeface="Apple SD Gothic Neo"/>
                <a:ea typeface="Apple SD Gothic Neo"/>
                <a:cs typeface="Apple SD Gothic Neo"/>
              </a:rPr>
              <a:t>각 기술은 처리 속도보다 책임을 나누기 위해 사용했습니다</a:t>
            </a:r>
          </a:p>
        </p:txBody>
      </p:sp>
      <p:sp>
        <p:nvSpPr>
          <p:cNvPr id="3" name="">
            <a:extLst xmlns:a="http://schemas.openxmlformats.org/drawingml/2006/main">
              <a:ext uri="{FF2B5EF4-FFF2-40B4-BE49-F238E27FC236}">
                <a16:creationId xmlns:a16="http://schemas.microsoft.com/office/drawing/2014/main" id="{00BA3BC2-5101-4308-9995-68A61FA8156A}"/>
              </a:ext>
            </a:extLst>
          </p:cNvPr>
          <p:cNvSpPr>
            <a:spLocks xmlns:a="http://schemas.openxmlformats.org/drawingml/2006/main" noGrp="1"/>
          </p:cNvSpPr>
          <p:nvPr/>
        </p:nvSpPr>
        <p:spPr>
          <a:xfrm xmlns:a="http://schemas.openxmlformats.org/drawingml/2006/main">
            <a:off x="533400" y="1457325"/>
            <a:ext cx="11125200" cy="0"/>
          </a:xfrm>
          <a:prstGeom xmlns:a="http://schemas.openxmlformats.org/drawingml/2006/main" prst="line">
            <a:avLst/>
          </a:prstGeom>
          <a:noFill xmlns:a="http://schemas.openxmlformats.org/drawingml/2006/main"/>
          <a:ln xmlns:a="http://schemas.openxmlformats.org/drawingml/2006/main" w="19050">
            <a:solidFill>
              <a:srgbClr val="101828"/>
            </a:solidFill>
            <a:prstDash val="solid"/>
          </a:ln>
        </p:spPr>
      </p:sp>
      <p:sp>
        <p:nvSpPr>
          <p:cNvPr id="4" name="">
            <a:extLst xmlns:a="http://schemas.openxmlformats.org/drawingml/2006/main">
              <a:ext uri="{FF2B5EF4-FFF2-40B4-BE49-F238E27FC236}">
                <a16:creationId xmlns:a16="http://schemas.microsoft.com/office/drawing/2014/main" id="{D2E7B891-0327-4A64-BB67-481039DCFA40}"/>
              </a:ext>
            </a:extLst>
          </p:cNvPr>
          <p:cNvSpPr>
            <a:spLocks xmlns:a="http://schemas.openxmlformats.org/drawingml/2006/main" noGrp="1"/>
          </p:cNvSpPr>
          <p:nvPr/>
        </p:nvSpPr>
        <p:spPr>
          <a:xfrm xmlns:a="http://schemas.openxmlformats.org/drawingml/2006/main">
            <a:off x="11182350" y="64008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667085"/>
                </a:solidFill>
                <a:latin typeface="Apple SD Gothic Neo"/>
                <a:ea typeface="Apple SD Gothic Neo"/>
                <a:cs typeface="Apple SD Gothic Neo"/>
              </a:defRPr>
            </a:pPr>
            <a:r>
              <a:rPr sz="900" b="0">
                <a:solidFill>
                  <a:srgbClr val="667085"/>
                </a:solidFill>
                <a:latin typeface="Apple SD Gothic Neo"/>
                <a:ea typeface="Apple SD Gothic Neo"/>
                <a:cs typeface="Apple SD Gothic Neo"/>
              </a:rPr>
              <a:t>04</a:t>
            </a:r>
          </a:p>
        </p:txBody>
      </p:sp>
      <p:sp>
        <p:nvSpPr>
          <p:cNvPr id="5" name="">
            <a:extLst xmlns:a="http://schemas.openxmlformats.org/drawingml/2006/main">
              <a:ext uri="{FF2B5EF4-FFF2-40B4-BE49-F238E27FC236}">
                <a16:creationId xmlns:a16="http://schemas.microsoft.com/office/drawing/2014/main" id="{FF46DE00-FA23-4E64-BF6E-9B8E1A9AF1C0}"/>
              </a:ext>
            </a:extLst>
          </p:cNvPr>
          <p:cNvSpPr>
            <a:spLocks xmlns:a="http://schemas.openxmlformats.org/drawingml/2006/main" noGrp="1"/>
          </p:cNvSpPr>
          <p:nvPr/>
        </p:nvSpPr>
        <p:spPr>
          <a:xfrm xmlns:a="http://schemas.openxmlformats.org/drawingml/2006/main">
            <a:off x="533400" y="2247900"/>
            <a:ext cx="3219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a:solidFill>
                  <a:srgbClr val="1570EF"/>
                </a:solidFill>
                <a:latin typeface="Apple SD Gothic Neo"/>
                <a:ea typeface="Apple SD Gothic Neo"/>
                <a:cs typeface="Apple SD Gothic Neo"/>
              </a:defRPr>
            </a:pPr>
            <a:r>
              <a:rPr sz="2100" b="1">
                <a:solidFill>
                  <a:srgbClr val="1570EF"/>
                </a:solidFill>
                <a:latin typeface="Apple SD Gothic Neo"/>
                <a:ea typeface="Apple SD Gothic Neo"/>
                <a:cs typeface="Apple SD Gothic Neo"/>
              </a:rPr>
              <a:t>Kafka</a:t>
            </a:r>
          </a:p>
        </p:txBody>
      </p:sp>
      <p:sp>
        <p:nvSpPr>
          <p:cNvPr id="6" name="">
            <a:extLst xmlns:a="http://schemas.openxmlformats.org/drawingml/2006/main">
              <a:ext uri="{FF2B5EF4-FFF2-40B4-BE49-F238E27FC236}">
                <a16:creationId xmlns:a16="http://schemas.microsoft.com/office/drawing/2014/main" id="{FF2E36CB-7080-441A-8964-244DF614D9BB}"/>
              </a:ext>
            </a:extLst>
          </p:cNvPr>
          <p:cNvSpPr>
            <a:spLocks xmlns:a="http://schemas.openxmlformats.org/drawingml/2006/main" noGrp="1"/>
          </p:cNvSpPr>
          <p:nvPr/>
        </p:nvSpPr>
        <p:spPr>
          <a:xfrm xmlns:a="http://schemas.openxmlformats.org/drawingml/2006/main">
            <a:off x="533400" y="2847975"/>
            <a:ext cx="3219450" cy="0"/>
          </a:xfrm>
          <a:prstGeom xmlns:a="http://schemas.openxmlformats.org/drawingml/2006/main" prst="line">
            <a:avLst/>
          </a:prstGeom>
          <a:noFill xmlns:a="http://schemas.openxmlformats.org/drawingml/2006/main"/>
          <a:ln xmlns:a="http://schemas.openxmlformats.org/drawingml/2006/main" w="38100">
            <a:solidFill>
              <a:srgbClr val="1570EF"/>
            </a:solidFill>
            <a:prstDash val="solid"/>
          </a:ln>
        </p:spPr>
      </p:sp>
      <p:sp>
        <p:nvSpPr>
          <p:cNvPr id="7" name="">
            <a:extLst xmlns:a="http://schemas.openxmlformats.org/drawingml/2006/main">
              <a:ext uri="{FF2B5EF4-FFF2-40B4-BE49-F238E27FC236}">
                <a16:creationId xmlns:a16="http://schemas.microsoft.com/office/drawing/2014/main" id="{A3A8B033-F8C3-4F59-943F-3722DBDA6C69}"/>
              </a:ext>
            </a:extLst>
          </p:cNvPr>
          <p:cNvSpPr>
            <a:spLocks xmlns:a="http://schemas.openxmlformats.org/drawingml/2006/main" noGrp="1"/>
          </p:cNvSpPr>
          <p:nvPr/>
        </p:nvSpPr>
        <p:spPr>
          <a:xfrm xmlns:a="http://schemas.openxmlformats.org/drawingml/2006/main">
            <a:off x="533400" y="3133725"/>
            <a:ext cx="32194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101828"/>
                </a:solidFill>
                <a:latin typeface="Apple SD Gothic Neo"/>
                <a:ea typeface="Apple SD Gothic Neo"/>
                <a:cs typeface="Apple SD Gothic Neo"/>
              </a:defRPr>
            </a:pPr>
            <a:r>
              <a:rPr sz="1575" b="0">
                <a:solidFill>
                  <a:srgbClr val="101828"/>
                </a:solidFill>
                <a:latin typeface="Apple SD Gothic Neo"/>
                <a:ea typeface="Apple SD Gothic Neo"/>
                <a:cs typeface="Apple SD Gothic Neo"/>
              </a:rPr>
              <a:t>원본 거래 이벤트를 24시간 보관합니다.</a:t>
            </a:r>
          </a:p>
          <a:p xmlns:a="http://schemas.openxmlformats.org/drawingml/2006/main">
            <a:r>
              <a:t/>
            </a:r>
          </a:p>
          <a:p xmlns:a="http://schemas.openxmlformats.org/drawingml/2006/main">
            <a:pPr algn="l">
              <a:defRPr sz="1575" b="0">
                <a:solidFill>
                  <a:srgbClr val="101828"/>
                </a:solidFill>
                <a:latin typeface="Apple SD Gothic Neo"/>
                <a:ea typeface="Apple SD Gothic Neo"/>
                <a:cs typeface="Apple SD Gothic Neo"/>
              </a:defRPr>
            </a:pPr>
            <a:r>
              <a:rPr sz="1575" b="0">
                <a:solidFill>
                  <a:srgbClr val="101828"/>
                </a:solidFill>
                <a:latin typeface="Apple SD Gothic Neo"/>
                <a:ea typeface="Apple SD Gothic Neo"/>
                <a:cs typeface="Apple SD Gothic Neo"/>
              </a:rPr>
              <a:t>수집기와 처리기를 분리해 Spark가 잠시 멈춰도 다시 읽을 수 있습니다.</a:t>
            </a:r>
          </a:p>
        </p:txBody>
      </p:sp>
      <p:sp>
        <p:nvSpPr>
          <p:cNvPr id="8" name="">
            <a:extLst xmlns:a="http://schemas.openxmlformats.org/drawingml/2006/main">
              <a:ext uri="{FF2B5EF4-FFF2-40B4-BE49-F238E27FC236}">
                <a16:creationId xmlns:a16="http://schemas.microsoft.com/office/drawing/2014/main" id="{1A760703-7374-4BF8-978D-6A7542E895E7}"/>
              </a:ext>
            </a:extLst>
          </p:cNvPr>
          <p:cNvSpPr>
            <a:spLocks xmlns:a="http://schemas.openxmlformats.org/drawingml/2006/main" noGrp="1"/>
          </p:cNvSpPr>
          <p:nvPr/>
        </p:nvSpPr>
        <p:spPr>
          <a:xfrm xmlns:a="http://schemas.openxmlformats.org/drawingml/2006/main">
            <a:off x="4486275" y="2247900"/>
            <a:ext cx="3219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a:solidFill>
                  <a:srgbClr val="7F56D9"/>
                </a:solidFill>
                <a:latin typeface="Apple SD Gothic Neo"/>
                <a:ea typeface="Apple SD Gothic Neo"/>
                <a:cs typeface="Apple SD Gothic Neo"/>
              </a:defRPr>
            </a:pPr>
            <a:r>
              <a:rPr sz="2100" b="1">
                <a:solidFill>
                  <a:srgbClr val="7F56D9"/>
                </a:solidFill>
                <a:latin typeface="Apple SD Gothic Neo"/>
                <a:ea typeface="Apple SD Gothic Neo"/>
                <a:cs typeface="Apple SD Gothic Neo"/>
              </a:rPr>
              <a:t>Spark</a:t>
            </a:r>
          </a:p>
        </p:txBody>
      </p:sp>
      <p:sp>
        <p:nvSpPr>
          <p:cNvPr id="9" name="">
            <a:extLst xmlns:a="http://schemas.openxmlformats.org/drawingml/2006/main">
              <a:ext uri="{FF2B5EF4-FFF2-40B4-BE49-F238E27FC236}">
                <a16:creationId xmlns:a16="http://schemas.microsoft.com/office/drawing/2014/main" id="{42C69C7B-3B55-44C2-9CE9-6EE5F8ACD844}"/>
              </a:ext>
            </a:extLst>
          </p:cNvPr>
          <p:cNvSpPr>
            <a:spLocks xmlns:a="http://schemas.openxmlformats.org/drawingml/2006/main" noGrp="1"/>
          </p:cNvSpPr>
          <p:nvPr/>
        </p:nvSpPr>
        <p:spPr>
          <a:xfrm xmlns:a="http://schemas.openxmlformats.org/drawingml/2006/main">
            <a:off x="4486275" y="2847975"/>
            <a:ext cx="3219450" cy="0"/>
          </a:xfrm>
          <a:prstGeom xmlns:a="http://schemas.openxmlformats.org/drawingml/2006/main" prst="line">
            <a:avLst/>
          </a:prstGeom>
          <a:noFill xmlns:a="http://schemas.openxmlformats.org/drawingml/2006/main"/>
          <a:ln xmlns:a="http://schemas.openxmlformats.org/drawingml/2006/main" w="38100">
            <a:solidFill>
              <a:srgbClr val="7F56D9"/>
            </a:solidFill>
            <a:prstDash val="solid"/>
          </a:ln>
        </p:spPr>
      </p:sp>
      <p:sp>
        <p:nvSpPr>
          <p:cNvPr id="10" name="">
            <a:extLst xmlns:a="http://schemas.openxmlformats.org/drawingml/2006/main">
              <a:ext uri="{FF2B5EF4-FFF2-40B4-BE49-F238E27FC236}">
                <a16:creationId xmlns:a16="http://schemas.microsoft.com/office/drawing/2014/main" id="{7E8EAC11-79A4-4856-86CB-2F3202061C88}"/>
              </a:ext>
            </a:extLst>
          </p:cNvPr>
          <p:cNvSpPr>
            <a:spLocks xmlns:a="http://schemas.openxmlformats.org/drawingml/2006/main" noGrp="1"/>
          </p:cNvSpPr>
          <p:nvPr/>
        </p:nvSpPr>
        <p:spPr>
          <a:xfrm xmlns:a="http://schemas.openxmlformats.org/drawingml/2006/main">
            <a:off x="4486275" y="3133725"/>
            <a:ext cx="32194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101828"/>
                </a:solidFill>
                <a:latin typeface="Apple SD Gothic Neo"/>
                <a:ea typeface="Apple SD Gothic Neo"/>
                <a:cs typeface="Apple SD Gothic Neo"/>
              </a:defRPr>
            </a:pPr>
            <a:r>
              <a:rPr sz="1575" b="0">
                <a:solidFill>
                  <a:srgbClr val="101828"/>
                </a:solidFill>
                <a:latin typeface="Apple SD Gothic Neo"/>
                <a:ea typeface="Apple SD Gothic Neo"/>
                <a:cs typeface="Apple SD Gothic Neo"/>
              </a:rPr>
              <a:t>거래 도착 순서가 아니라 실제 거래 시각으로 1분봉을 만듭니다.</a:t>
            </a:r>
          </a:p>
          <a:p xmlns:a="http://schemas.openxmlformats.org/drawingml/2006/main">
            <a:r>
              <a:t/>
            </a:r>
          </a:p>
          <a:p xmlns:a="http://schemas.openxmlformats.org/drawingml/2006/main">
            <a:pPr algn="l">
              <a:defRPr sz="1575" b="0">
                <a:solidFill>
                  <a:srgbClr val="101828"/>
                </a:solidFill>
                <a:latin typeface="Apple SD Gothic Neo"/>
                <a:ea typeface="Apple SD Gothic Neo"/>
                <a:cs typeface="Apple SD Gothic Neo"/>
              </a:defRPr>
            </a:pPr>
            <a:r>
              <a:rPr sz="1575" b="0">
                <a:solidFill>
                  <a:srgbClr val="101828"/>
                </a:solidFill>
                <a:latin typeface="Apple SD Gothic Neo"/>
                <a:ea typeface="Apple SD Gothic Neo"/>
                <a:cs typeface="Apple SD Gothic Neo"/>
              </a:rPr>
              <a:t>중복 제거, watermark, checkpoint를 함께 검증합니다.</a:t>
            </a:r>
          </a:p>
        </p:txBody>
      </p:sp>
      <p:sp>
        <p:nvSpPr>
          <p:cNvPr id="11" name="">
            <a:extLst xmlns:a="http://schemas.openxmlformats.org/drawingml/2006/main">
              <a:ext uri="{FF2B5EF4-FFF2-40B4-BE49-F238E27FC236}">
                <a16:creationId xmlns:a16="http://schemas.microsoft.com/office/drawing/2014/main" id="{5F3206A0-06E1-4E5A-B345-A9DF28500D1E}"/>
              </a:ext>
            </a:extLst>
          </p:cNvPr>
          <p:cNvSpPr>
            <a:spLocks xmlns:a="http://schemas.openxmlformats.org/drawingml/2006/main" noGrp="1"/>
          </p:cNvSpPr>
          <p:nvPr/>
        </p:nvSpPr>
        <p:spPr>
          <a:xfrm xmlns:a="http://schemas.openxmlformats.org/drawingml/2006/main">
            <a:off x="8439150" y="2247900"/>
            <a:ext cx="3219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a:solidFill>
                  <a:srgbClr val="067647"/>
                </a:solidFill>
                <a:latin typeface="Apple SD Gothic Neo"/>
                <a:ea typeface="Apple SD Gothic Neo"/>
                <a:cs typeface="Apple SD Gothic Neo"/>
              </a:defRPr>
            </a:pPr>
            <a:r>
              <a:rPr sz="2100" b="1">
                <a:solidFill>
                  <a:srgbClr val="067647"/>
                </a:solidFill>
                <a:latin typeface="Apple SD Gothic Neo"/>
                <a:ea typeface="Apple SD Gothic Neo"/>
                <a:cs typeface="Apple SD Gothic Neo"/>
              </a:rPr>
              <a:t>PostgreSQL</a:t>
            </a:r>
          </a:p>
        </p:txBody>
      </p:sp>
      <p:sp>
        <p:nvSpPr>
          <p:cNvPr id="12" name="">
            <a:extLst xmlns:a="http://schemas.openxmlformats.org/drawingml/2006/main">
              <a:ext uri="{FF2B5EF4-FFF2-40B4-BE49-F238E27FC236}">
                <a16:creationId xmlns:a16="http://schemas.microsoft.com/office/drawing/2014/main" id="{A618A580-C125-4583-9ACD-ED2B5EACA23A}"/>
              </a:ext>
            </a:extLst>
          </p:cNvPr>
          <p:cNvSpPr>
            <a:spLocks xmlns:a="http://schemas.openxmlformats.org/drawingml/2006/main" noGrp="1"/>
          </p:cNvSpPr>
          <p:nvPr/>
        </p:nvSpPr>
        <p:spPr>
          <a:xfrm xmlns:a="http://schemas.openxmlformats.org/drawingml/2006/main">
            <a:off x="8439150" y="2847975"/>
            <a:ext cx="3219450" cy="0"/>
          </a:xfrm>
          <a:prstGeom xmlns:a="http://schemas.openxmlformats.org/drawingml/2006/main" prst="line">
            <a:avLst/>
          </a:prstGeom>
          <a:noFill xmlns:a="http://schemas.openxmlformats.org/drawingml/2006/main"/>
          <a:ln xmlns:a="http://schemas.openxmlformats.org/drawingml/2006/main" w="38100">
            <a:solidFill>
              <a:srgbClr val="067647"/>
            </a:solidFill>
            <a:prstDash val="solid"/>
          </a:ln>
        </p:spPr>
      </p:sp>
      <p:sp>
        <p:nvSpPr>
          <p:cNvPr id="13" name="">
            <a:extLst xmlns:a="http://schemas.openxmlformats.org/drawingml/2006/main">
              <a:ext uri="{FF2B5EF4-FFF2-40B4-BE49-F238E27FC236}">
                <a16:creationId xmlns:a16="http://schemas.microsoft.com/office/drawing/2014/main" id="{200F272A-5B5A-4093-B337-EFD1A73EF19F}"/>
              </a:ext>
            </a:extLst>
          </p:cNvPr>
          <p:cNvSpPr>
            <a:spLocks xmlns:a="http://schemas.openxmlformats.org/drawingml/2006/main" noGrp="1"/>
          </p:cNvSpPr>
          <p:nvPr/>
        </p:nvSpPr>
        <p:spPr>
          <a:xfrm xmlns:a="http://schemas.openxmlformats.org/drawingml/2006/main">
            <a:off x="8439150" y="3133725"/>
            <a:ext cx="32194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101828"/>
                </a:solidFill>
                <a:latin typeface="Apple SD Gothic Neo"/>
                <a:ea typeface="Apple SD Gothic Neo"/>
                <a:cs typeface="Apple SD Gothic Neo"/>
              </a:defRPr>
            </a:pPr>
            <a:r>
              <a:rPr sz="1575" b="0">
                <a:solidFill>
                  <a:srgbClr val="101828"/>
                </a:solidFill>
                <a:latin typeface="Apple SD Gothic Neo"/>
                <a:ea typeface="Apple SD Gothic Neo"/>
                <a:cs typeface="Apple SD Gothic Neo"/>
              </a:rPr>
              <a:t>확정된 1분봉을 SQL로 조회합니다.</a:t>
            </a:r>
          </a:p>
          <a:p xmlns:a="http://schemas.openxmlformats.org/drawingml/2006/main">
            <a:r>
              <a:t/>
            </a:r>
          </a:p>
          <a:p xmlns:a="http://schemas.openxmlformats.org/drawingml/2006/main">
            <a:pPr algn="l">
              <a:defRPr sz="1575" b="0">
                <a:solidFill>
                  <a:srgbClr val="101828"/>
                </a:solidFill>
                <a:latin typeface="Apple SD Gothic Neo"/>
                <a:ea typeface="Apple SD Gothic Neo"/>
                <a:cs typeface="Apple SD Gothic Neo"/>
              </a:defRPr>
            </a:pPr>
            <a:r>
              <a:rPr sz="1575" b="0">
                <a:solidFill>
                  <a:srgbClr val="101828"/>
                </a:solidFill>
                <a:latin typeface="Apple SD Gothic Neo"/>
                <a:ea typeface="Apple SD Gothic Neo"/>
                <a:cs typeface="Apple SD Gothic Neo"/>
              </a:rPr>
              <a:t>business key와 upsert로 재처리 때 중복 저장을 막습니다.</a:t>
            </a:r>
          </a:p>
        </p:txBody>
      </p:sp>
      <p:sp>
        <p:nvSpPr>
          <p:cNvPr id="14" name="">
            <a:extLst xmlns:a="http://schemas.openxmlformats.org/drawingml/2006/main">
              <a:ext uri="{FF2B5EF4-FFF2-40B4-BE49-F238E27FC236}">
                <a16:creationId xmlns:a16="http://schemas.microsoft.com/office/drawing/2014/main" id="{452A0EC3-AA02-4A20-8086-B5A31CDF09F4}"/>
              </a:ext>
            </a:extLst>
          </p:cNvPr>
          <p:cNvSpPr>
            <a:spLocks xmlns:a="http://schemas.openxmlformats.org/drawingml/2006/main" noGrp="1"/>
          </p:cNvSpPr>
          <p:nvPr/>
        </p:nvSpPr>
        <p:spPr>
          <a:xfrm xmlns:a="http://schemas.openxmlformats.org/drawingml/2006/main">
            <a:off x="533400" y="59055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667085"/>
                </a:solidFill>
                <a:latin typeface="Apple SD Gothic Neo"/>
                <a:ea typeface="Apple SD Gothic Neo"/>
                <a:cs typeface="Apple SD Gothic Neo"/>
              </a:defRPr>
            </a:pPr>
            <a:r>
              <a:rPr sz="1425" b="0">
                <a:solidFill>
                  <a:srgbClr val="667085"/>
                </a:solidFill>
                <a:latin typeface="Apple SD Gothic Neo"/>
                <a:ea typeface="Apple SD Gothic Neo"/>
                <a:cs typeface="Apple SD Gothic Neo"/>
              </a:rPr>
              <a:t>Docker Compose는 Kafka와 PostgreSQL의 실행 환경을 같은 명령으로 재현합니다.</a:t>
            </a:r>
          </a:p>
        </p:txBody>
      </p:sp>
    </p:spTree>
    <p:extLst>
      <p:ext uri="{BB962C8B-B14F-4D97-AF65-F5344CB8AC3E}">
        <p14:creationId xmlns:p14="http://schemas.microsoft.com/office/powerpoint/2010/main" val="117278285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eyebrow-5">
            <a:extLst xmlns:a="http://schemas.openxmlformats.org/drawingml/2006/main">
              <a:ext uri="{FF2B5EF4-FFF2-40B4-BE49-F238E27FC236}">
                <a16:creationId xmlns:a16="http://schemas.microsoft.com/office/drawing/2014/main" id="{427F1F2F-F6F7-4A29-B2BD-8EA88AAB769C}"/>
              </a:ext>
            </a:extLst>
          </p:cNvPr>
          <p:cNvSpPr>
            <a:spLocks xmlns:a="http://schemas.openxmlformats.org/drawingml/2006/main" noGrp="1"/>
          </p:cNvSpPr>
          <p:nvPr/>
        </p:nvSpPr>
        <p:spPr>
          <a:xfrm xmlns:a="http://schemas.openxmlformats.org/drawingml/2006/main">
            <a:off x="533400" y="361950"/>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p xmlns:a="http://schemas.openxmlformats.org/drawingml/2006/main">
            <a:pPr algn="l">
              <a:defRPr sz="1125" b="1">
                <a:solidFill>
                  <a:srgbClr val="1570EF"/>
                </a:solidFill>
                <a:latin typeface="Apple SD Gothic Neo"/>
                <a:ea typeface="Apple SD Gothic Neo"/>
                <a:cs typeface="Apple SD Gothic Neo"/>
              </a:defRPr>
            </a:pPr>
            <a:r>
              <a:rPr sz="1125" b="1">
                <a:solidFill>
                  <a:srgbClr val="1570EF"/>
                </a:solidFill>
                <a:latin typeface="Apple SD Gothic Neo"/>
                <a:ea typeface="Apple SD Gothic Neo"/>
                <a:cs typeface="Apple SD Gothic Neo"/>
              </a:rPr>
              <a:t>ACTUAL RESULT</a:t>
            </a:r>
          </a:p>
        </p:txBody>
      </p:sp>
      <p:sp>
        <p:nvSpPr>
          <p:cNvPr id="2" name="title-5">
            <a:extLst xmlns:a="http://schemas.openxmlformats.org/drawingml/2006/main">
              <a:ext uri="{FF2B5EF4-FFF2-40B4-BE49-F238E27FC236}">
                <a16:creationId xmlns:a16="http://schemas.microsoft.com/office/drawing/2014/main" id="{9D57B243-B242-463B-A88C-4807AACAD336}"/>
              </a:ext>
            </a:extLst>
          </p:cNvPr>
          <p:cNvSpPr>
            <a:spLocks xmlns:a="http://schemas.openxmlformats.org/drawingml/2006/main" noGrp="1"/>
          </p:cNvSpPr>
          <p:nvPr/>
        </p:nvSpPr>
        <p:spPr>
          <a:xfrm xmlns:a="http://schemas.openxmlformats.org/drawingml/2006/main">
            <a:off x="533400" y="685800"/>
            <a:ext cx="10572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101828"/>
                </a:solidFill>
                <a:latin typeface="Apple SD Gothic Neo"/>
                <a:ea typeface="Apple SD Gothic Neo"/>
                <a:cs typeface="Apple SD Gothic Neo"/>
              </a:defRPr>
            </a:pPr>
            <a:r>
              <a:rPr sz="2850" b="1">
                <a:solidFill>
                  <a:srgbClr val="101828"/>
                </a:solidFill>
                <a:latin typeface="Apple SD Gothic Neo"/>
                <a:ea typeface="Apple SD Gothic Neo"/>
                <a:cs typeface="Apple SD Gothic Neo"/>
              </a:rPr>
              <a:t>실제 거래 427건이 최종 1분봉 3건으로 저장됐습니다</a:t>
            </a:r>
          </a:p>
        </p:txBody>
      </p:sp>
      <p:sp>
        <p:nvSpPr>
          <p:cNvPr id="3" name="">
            <a:extLst xmlns:a="http://schemas.openxmlformats.org/drawingml/2006/main">
              <a:ext uri="{FF2B5EF4-FFF2-40B4-BE49-F238E27FC236}">
                <a16:creationId xmlns:a16="http://schemas.microsoft.com/office/drawing/2014/main" id="{D5742A19-0B93-44BD-9B34-0FAD23593CCE}"/>
              </a:ext>
            </a:extLst>
          </p:cNvPr>
          <p:cNvSpPr>
            <a:spLocks xmlns:a="http://schemas.openxmlformats.org/drawingml/2006/main" noGrp="1"/>
          </p:cNvSpPr>
          <p:nvPr/>
        </p:nvSpPr>
        <p:spPr>
          <a:xfrm xmlns:a="http://schemas.openxmlformats.org/drawingml/2006/main">
            <a:off x="533400" y="1457325"/>
            <a:ext cx="11125200" cy="0"/>
          </a:xfrm>
          <a:prstGeom xmlns:a="http://schemas.openxmlformats.org/drawingml/2006/main" prst="line">
            <a:avLst/>
          </a:prstGeom>
          <a:noFill xmlns:a="http://schemas.openxmlformats.org/drawingml/2006/main"/>
          <a:ln xmlns:a="http://schemas.openxmlformats.org/drawingml/2006/main" w="19050">
            <a:solidFill>
              <a:srgbClr val="101828"/>
            </a:solidFill>
            <a:prstDash val="solid"/>
          </a:ln>
        </p:spPr>
      </p:sp>
      <p:sp>
        <p:nvSpPr>
          <p:cNvPr id="4" name="">
            <a:extLst xmlns:a="http://schemas.openxmlformats.org/drawingml/2006/main">
              <a:ext uri="{FF2B5EF4-FFF2-40B4-BE49-F238E27FC236}">
                <a16:creationId xmlns:a16="http://schemas.microsoft.com/office/drawing/2014/main" id="{F202A7A4-4890-4D83-91A8-5BB0D0D3EBD0}"/>
              </a:ext>
            </a:extLst>
          </p:cNvPr>
          <p:cNvSpPr>
            <a:spLocks xmlns:a="http://schemas.openxmlformats.org/drawingml/2006/main" noGrp="1"/>
          </p:cNvSpPr>
          <p:nvPr/>
        </p:nvSpPr>
        <p:spPr>
          <a:xfrm xmlns:a="http://schemas.openxmlformats.org/drawingml/2006/main">
            <a:off x="11182350" y="64008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667085"/>
                </a:solidFill>
                <a:latin typeface="Apple SD Gothic Neo"/>
                <a:ea typeface="Apple SD Gothic Neo"/>
                <a:cs typeface="Apple SD Gothic Neo"/>
              </a:defRPr>
            </a:pPr>
            <a:r>
              <a:rPr sz="900" b="0">
                <a:solidFill>
                  <a:srgbClr val="667085"/>
                </a:solidFill>
                <a:latin typeface="Apple SD Gothic Neo"/>
                <a:ea typeface="Apple SD Gothic Neo"/>
                <a:cs typeface="Apple SD Gothic Neo"/>
              </a:rPr>
              <a:t>05</a:t>
            </a:r>
          </a:p>
        </p:txBody>
      </p:sp>
      <p:sp>
        <p:nvSpPr>
          <p:cNvPr id="5" name="">
            <a:extLst xmlns:a="http://schemas.openxmlformats.org/drawingml/2006/main">
              <a:ext uri="{FF2B5EF4-FFF2-40B4-BE49-F238E27FC236}">
                <a16:creationId xmlns:a16="http://schemas.microsoft.com/office/drawing/2014/main" id="{FC397B50-11B8-44A8-9610-C07CD31F4AFA}"/>
              </a:ext>
            </a:extLst>
          </p:cNvPr>
          <p:cNvSpPr>
            <a:spLocks xmlns:a="http://schemas.openxmlformats.org/drawingml/2006/main" noGrp="1"/>
          </p:cNvSpPr>
          <p:nvPr/>
        </p:nvSpPr>
        <p:spPr>
          <a:xfrm xmlns:a="http://schemas.openxmlformats.org/drawingml/2006/main">
            <a:off x="533400" y="1781175"/>
            <a:ext cx="1057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667085"/>
                </a:solidFill>
                <a:latin typeface="Apple SD Gothic Neo"/>
                <a:ea typeface="Apple SD Gothic Neo"/>
                <a:cs typeface="Apple SD Gothic Neo"/>
              </a:defRPr>
            </a:pPr>
            <a:r>
              <a:rPr sz="1500" b="0">
                <a:solidFill>
                  <a:srgbClr val="667085"/>
                </a:solidFill>
                <a:latin typeface="Apple SD Gothic Neo"/>
                <a:ea typeface="Apple SD Gothic Neo"/>
                <a:cs typeface="Apple SD Gothic Neo"/>
              </a:rPr>
              <a:t>SMH · 2026-08-19 19:50Z~19:56Z · Alpaca Historical IEX</a:t>
            </a:r>
          </a:p>
        </p:txBody>
      </p:sp>
      <p:sp>
        <p:nvSpPr>
          <p:cNvPr id="6" name="">
            <a:extLst xmlns:a="http://schemas.openxmlformats.org/drawingml/2006/main">
              <a:ext uri="{FF2B5EF4-FFF2-40B4-BE49-F238E27FC236}">
                <a16:creationId xmlns:a16="http://schemas.microsoft.com/office/drawing/2014/main" id="{90C3FDB7-014C-4C52-884F-BDB9BBE794F0}"/>
              </a:ext>
            </a:extLst>
          </p:cNvPr>
          <p:cNvSpPr>
            <a:spLocks xmlns:a="http://schemas.openxmlformats.org/drawingml/2006/main" noGrp="1"/>
          </p:cNvSpPr>
          <p:nvPr/>
        </p:nvSpPr>
        <p:spPr>
          <a:xfrm xmlns:a="http://schemas.openxmlformats.org/drawingml/2006/main">
            <a:off x="533400" y="2647950"/>
            <a:ext cx="3333750" cy="2381250"/>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8D9DD68-7D5F-41D5-8421-EC3019248552}"/>
              </a:ext>
            </a:extLst>
          </p:cNvPr>
          <p:cNvSpPr>
            <a:spLocks xmlns:a="http://schemas.openxmlformats.org/drawingml/2006/main" noGrp="1"/>
          </p:cNvSpPr>
          <p:nvPr/>
        </p:nvSpPr>
        <p:spPr>
          <a:xfrm xmlns:a="http://schemas.openxmlformats.org/drawingml/2006/main">
            <a:off x="533400" y="2647950"/>
            <a:ext cx="3333750" cy="57150"/>
          </a:xfrm>
          <a:prstGeom xmlns:a="http://schemas.openxmlformats.org/drawingml/2006/main" prst="rect">
            <a:avLst/>
          </a:prstGeom>
          <a:solidFill xmlns:a="http://schemas.openxmlformats.org/drawingml/2006/main">
            <a:srgbClr val="06764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2DA3FC2-3649-40B9-A247-8CFB7F0BAB78}"/>
              </a:ext>
            </a:extLst>
          </p:cNvPr>
          <p:cNvSpPr>
            <a:spLocks xmlns:a="http://schemas.openxmlformats.org/drawingml/2006/main" noGrp="1"/>
          </p:cNvSpPr>
          <p:nvPr/>
        </p:nvSpPr>
        <p:spPr>
          <a:xfrm xmlns:a="http://schemas.openxmlformats.org/drawingml/2006/main">
            <a:off x="800100" y="3038475"/>
            <a:ext cx="2762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4050" b="1">
                <a:solidFill>
                  <a:srgbClr val="101828"/>
                </a:solidFill>
                <a:latin typeface="Apple SD Gothic Neo"/>
                <a:ea typeface="Apple SD Gothic Neo"/>
                <a:cs typeface="Apple SD Gothic Neo"/>
              </a:defRPr>
            </a:pPr>
            <a:r>
              <a:rPr sz="4050" b="1">
                <a:solidFill>
                  <a:srgbClr val="101828"/>
                </a:solidFill>
                <a:latin typeface="Apple SD Gothic Neo"/>
                <a:ea typeface="Apple SD Gothic Neo"/>
                <a:cs typeface="Apple SD Gothic Neo"/>
              </a:rPr>
              <a:t>427</a:t>
            </a:r>
          </a:p>
        </p:txBody>
      </p:sp>
      <p:sp>
        <p:nvSpPr>
          <p:cNvPr id="9" name="">
            <a:extLst xmlns:a="http://schemas.openxmlformats.org/drawingml/2006/main">
              <a:ext uri="{FF2B5EF4-FFF2-40B4-BE49-F238E27FC236}">
                <a16:creationId xmlns:a16="http://schemas.microsoft.com/office/drawing/2014/main" id="{112370FB-0714-40BB-A9FA-58FC4A2EB136}"/>
              </a:ext>
            </a:extLst>
          </p:cNvPr>
          <p:cNvSpPr>
            <a:spLocks xmlns:a="http://schemas.openxmlformats.org/drawingml/2006/main" noGrp="1"/>
          </p:cNvSpPr>
          <p:nvPr/>
        </p:nvSpPr>
        <p:spPr>
          <a:xfrm xmlns:a="http://schemas.openxmlformats.org/drawingml/2006/main">
            <a:off x="800100" y="3838575"/>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01828"/>
                </a:solidFill>
                <a:latin typeface="Apple SD Gothic Neo"/>
                <a:ea typeface="Apple SD Gothic Neo"/>
                <a:cs typeface="Apple SD Gothic Neo"/>
              </a:defRPr>
            </a:pPr>
            <a:r>
              <a:rPr sz="1725" b="1">
                <a:solidFill>
                  <a:srgbClr val="101828"/>
                </a:solidFill>
                <a:latin typeface="Apple SD Gothic Neo"/>
                <a:ea typeface="Apple SD Gothic Neo"/>
                <a:cs typeface="Apple SD Gothic Neo"/>
              </a:rPr>
              <a:t>조회 = Kafka 발행</a:t>
            </a:r>
          </a:p>
        </p:txBody>
      </p:sp>
      <p:sp>
        <p:nvSpPr>
          <p:cNvPr id="10" name="">
            <a:extLst xmlns:a="http://schemas.openxmlformats.org/drawingml/2006/main">
              <a:ext uri="{FF2B5EF4-FFF2-40B4-BE49-F238E27FC236}">
                <a16:creationId xmlns:a16="http://schemas.microsoft.com/office/drawing/2014/main" id="{DE46ACBC-9414-4D0A-857A-C0C24099028C}"/>
              </a:ext>
            </a:extLst>
          </p:cNvPr>
          <p:cNvSpPr>
            <a:spLocks xmlns:a="http://schemas.openxmlformats.org/drawingml/2006/main" noGrp="1"/>
          </p:cNvSpPr>
          <p:nvPr/>
        </p:nvSpPr>
        <p:spPr>
          <a:xfrm xmlns:a="http://schemas.openxmlformats.org/drawingml/2006/main">
            <a:off x="800100" y="430530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67085"/>
                </a:solidFill>
                <a:latin typeface="Apple SD Gothic Neo"/>
                <a:ea typeface="Apple SD Gothic Neo"/>
                <a:cs typeface="Apple SD Gothic Neo"/>
              </a:defRPr>
            </a:pPr>
            <a:r>
              <a:rPr sz="1275" b="0">
                <a:solidFill>
                  <a:srgbClr val="667085"/>
                </a:solidFill>
                <a:latin typeface="Apple SD Gothic Neo"/>
                <a:ea typeface="Apple SD Gothic Neo"/>
                <a:cs typeface="Apple SD Gothic Neo"/>
              </a:rPr>
              <a:t>실제 trade · API 1 page</a:t>
            </a:r>
          </a:p>
        </p:txBody>
      </p:sp>
      <p:sp>
        <p:nvSpPr>
          <p:cNvPr id="11" name="">
            <a:extLst xmlns:a="http://schemas.openxmlformats.org/drawingml/2006/main">
              <a:ext uri="{FF2B5EF4-FFF2-40B4-BE49-F238E27FC236}">
                <a16:creationId xmlns:a16="http://schemas.microsoft.com/office/drawing/2014/main" id="{F422721F-F8A8-42FC-AFAC-DB70E46D6EC2}"/>
              </a:ext>
            </a:extLst>
          </p:cNvPr>
          <p:cNvSpPr>
            <a:spLocks xmlns:a="http://schemas.openxmlformats.org/drawingml/2006/main" noGrp="1"/>
          </p:cNvSpPr>
          <p:nvPr/>
        </p:nvSpPr>
        <p:spPr>
          <a:xfrm xmlns:a="http://schemas.openxmlformats.org/drawingml/2006/main">
            <a:off x="4429125" y="2647950"/>
            <a:ext cx="3333750" cy="2381250"/>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EDD3262-6DA1-401B-8FD1-2104DFF4F84A}"/>
              </a:ext>
            </a:extLst>
          </p:cNvPr>
          <p:cNvSpPr>
            <a:spLocks xmlns:a="http://schemas.openxmlformats.org/drawingml/2006/main" noGrp="1"/>
          </p:cNvSpPr>
          <p:nvPr/>
        </p:nvSpPr>
        <p:spPr>
          <a:xfrm xmlns:a="http://schemas.openxmlformats.org/drawingml/2006/main">
            <a:off x="4429125" y="2647950"/>
            <a:ext cx="3333750" cy="57150"/>
          </a:xfrm>
          <a:prstGeom xmlns:a="http://schemas.openxmlformats.org/drawingml/2006/main" prst="rect">
            <a:avLst/>
          </a:prstGeom>
          <a:solidFill xmlns:a="http://schemas.openxmlformats.org/drawingml/2006/main">
            <a:srgbClr val="06764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2D04833-C4EE-4BA9-864C-6342F5E62603}"/>
              </a:ext>
            </a:extLst>
          </p:cNvPr>
          <p:cNvSpPr>
            <a:spLocks xmlns:a="http://schemas.openxmlformats.org/drawingml/2006/main" noGrp="1"/>
          </p:cNvSpPr>
          <p:nvPr/>
        </p:nvSpPr>
        <p:spPr>
          <a:xfrm xmlns:a="http://schemas.openxmlformats.org/drawingml/2006/main">
            <a:off x="4695825" y="3038475"/>
            <a:ext cx="2762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4050" b="1">
                <a:solidFill>
                  <a:srgbClr val="101828"/>
                </a:solidFill>
                <a:latin typeface="Apple SD Gothic Neo"/>
                <a:ea typeface="Apple SD Gothic Neo"/>
                <a:cs typeface="Apple SD Gothic Neo"/>
              </a:defRPr>
            </a:pPr>
            <a:r>
              <a:rPr sz="4050" b="1">
                <a:solidFill>
                  <a:srgbClr val="101828"/>
                </a:solidFill>
                <a:latin typeface="Apple SD Gothic Neo"/>
                <a:ea typeface="Apple SD Gothic Neo"/>
                <a:cs typeface="Apple SD Gothic Neo"/>
              </a:rPr>
              <a:t>3</a:t>
            </a:r>
          </a:p>
        </p:txBody>
      </p:sp>
      <p:sp>
        <p:nvSpPr>
          <p:cNvPr id="14" name="">
            <a:extLst xmlns:a="http://schemas.openxmlformats.org/drawingml/2006/main">
              <a:ext uri="{FF2B5EF4-FFF2-40B4-BE49-F238E27FC236}">
                <a16:creationId xmlns:a16="http://schemas.microsoft.com/office/drawing/2014/main" id="{02EC2970-742A-4BF7-A1F9-C667B4F7F3A4}"/>
              </a:ext>
            </a:extLst>
          </p:cNvPr>
          <p:cNvSpPr>
            <a:spLocks xmlns:a="http://schemas.openxmlformats.org/drawingml/2006/main" noGrp="1"/>
          </p:cNvSpPr>
          <p:nvPr/>
        </p:nvSpPr>
        <p:spPr>
          <a:xfrm xmlns:a="http://schemas.openxmlformats.org/drawingml/2006/main">
            <a:off x="4695825" y="3838575"/>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01828"/>
                </a:solidFill>
                <a:latin typeface="Apple SD Gothic Neo"/>
                <a:ea typeface="Apple SD Gothic Neo"/>
                <a:cs typeface="Apple SD Gothic Neo"/>
              </a:defRPr>
            </a:pPr>
            <a:r>
              <a:rPr sz="1725" b="1">
                <a:solidFill>
                  <a:srgbClr val="101828"/>
                </a:solidFill>
                <a:latin typeface="Apple SD Gothic Neo"/>
                <a:ea typeface="Apple SD Gothic Neo"/>
                <a:cs typeface="Apple SD Gothic Neo"/>
              </a:rPr>
              <a:t>최종 1분봉</a:t>
            </a:r>
          </a:p>
        </p:txBody>
      </p:sp>
      <p:sp>
        <p:nvSpPr>
          <p:cNvPr id="15" name="">
            <a:extLst xmlns:a="http://schemas.openxmlformats.org/drawingml/2006/main">
              <a:ext uri="{FF2B5EF4-FFF2-40B4-BE49-F238E27FC236}">
                <a16:creationId xmlns:a16="http://schemas.microsoft.com/office/drawing/2014/main" id="{81B35879-C6F8-421E-AD94-86E7E92A3253}"/>
              </a:ext>
            </a:extLst>
          </p:cNvPr>
          <p:cNvSpPr>
            <a:spLocks xmlns:a="http://schemas.openxmlformats.org/drawingml/2006/main" noGrp="1"/>
          </p:cNvSpPr>
          <p:nvPr/>
        </p:nvSpPr>
        <p:spPr>
          <a:xfrm xmlns:a="http://schemas.openxmlformats.org/drawingml/2006/main">
            <a:off x="4695825" y="430530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67085"/>
                </a:solidFill>
                <a:latin typeface="Apple SD Gothic Neo"/>
                <a:ea typeface="Apple SD Gothic Neo"/>
                <a:cs typeface="Apple SD Gothic Neo"/>
              </a:defRPr>
            </a:pPr>
            <a:r>
              <a:rPr sz="1275" b="0">
                <a:solidFill>
                  <a:srgbClr val="667085"/>
                </a:solidFill>
                <a:latin typeface="Apple SD Gothic Neo"/>
                <a:ea typeface="Apple SD Gothic Neo"/>
                <a:cs typeface="Apple SD Gothic Neo"/>
              </a:rPr>
              <a:t>19:50Z~19:52Z · watermark 확정</a:t>
            </a:r>
          </a:p>
        </p:txBody>
      </p:sp>
      <p:sp>
        <p:nvSpPr>
          <p:cNvPr id="16" name="">
            <a:extLst xmlns:a="http://schemas.openxmlformats.org/drawingml/2006/main">
              <a:ext uri="{FF2B5EF4-FFF2-40B4-BE49-F238E27FC236}">
                <a16:creationId xmlns:a16="http://schemas.microsoft.com/office/drawing/2014/main" id="{F2CD09B0-3090-401D-AEBE-95DDD3B35BB7}"/>
              </a:ext>
            </a:extLst>
          </p:cNvPr>
          <p:cNvSpPr>
            <a:spLocks xmlns:a="http://schemas.openxmlformats.org/drawingml/2006/main" noGrp="1"/>
          </p:cNvSpPr>
          <p:nvPr/>
        </p:nvSpPr>
        <p:spPr>
          <a:xfrm xmlns:a="http://schemas.openxmlformats.org/drawingml/2006/main">
            <a:off x="8324850" y="2647950"/>
            <a:ext cx="3333750" cy="2381250"/>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2A389C2-445B-47AC-8895-2FAC52E32F0A}"/>
              </a:ext>
            </a:extLst>
          </p:cNvPr>
          <p:cNvSpPr>
            <a:spLocks xmlns:a="http://schemas.openxmlformats.org/drawingml/2006/main" noGrp="1"/>
          </p:cNvSpPr>
          <p:nvPr/>
        </p:nvSpPr>
        <p:spPr>
          <a:xfrm xmlns:a="http://schemas.openxmlformats.org/drawingml/2006/main">
            <a:off x="8324850" y="2647950"/>
            <a:ext cx="3333750" cy="57150"/>
          </a:xfrm>
          <a:prstGeom xmlns:a="http://schemas.openxmlformats.org/drawingml/2006/main" prst="rect">
            <a:avLst/>
          </a:prstGeom>
          <a:solidFill xmlns:a="http://schemas.openxmlformats.org/drawingml/2006/main">
            <a:srgbClr val="06764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F12AF38-394B-487C-9CC7-ACEFECFF91B2}"/>
              </a:ext>
            </a:extLst>
          </p:cNvPr>
          <p:cNvSpPr>
            <a:spLocks xmlns:a="http://schemas.openxmlformats.org/drawingml/2006/main" noGrp="1"/>
          </p:cNvSpPr>
          <p:nvPr/>
        </p:nvSpPr>
        <p:spPr>
          <a:xfrm xmlns:a="http://schemas.openxmlformats.org/drawingml/2006/main">
            <a:off x="8591550" y="3038475"/>
            <a:ext cx="2762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4050" b="1">
                <a:solidFill>
                  <a:srgbClr val="101828"/>
                </a:solidFill>
                <a:latin typeface="Apple SD Gothic Neo"/>
                <a:ea typeface="Apple SD Gothic Neo"/>
                <a:cs typeface="Apple SD Gothic Neo"/>
              </a:defRPr>
            </a:pPr>
            <a:r>
              <a:rPr sz="4050" b="1">
                <a:solidFill>
                  <a:srgbClr val="101828"/>
                </a:solidFill>
                <a:latin typeface="Apple SD Gothic Neo"/>
                <a:ea typeface="Apple SD Gothic Neo"/>
                <a:cs typeface="Apple SD Gothic Neo"/>
              </a:rPr>
              <a:t>0</a:t>
            </a:r>
          </a:p>
        </p:txBody>
      </p:sp>
      <p:sp>
        <p:nvSpPr>
          <p:cNvPr id="19" name="">
            <a:extLst xmlns:a="http://schemas.openxmlformats.org/drawingml/2006/main">
              <a:ext uri="{FF2B5EF4-FFF2-40B4-BE49-F238E27FC236}">
                <a16:creationId xmlns:a16="http://schemas.microsoft.com/office/drawing/2014/main" id="{6F1228C5-28F2-4C08-91B9-DE88BEA759C0}"/>
              </a:ext>
            </a:extLst>
          </p:cNvPr>
          <p:cNvSpPr>
            <a:spLocks xmlns:a="http://schemas.openxmlformats.org/drawingml/2006/main" noGrp="1"/>
          </p:cNvSpPr>
          <p:nvPr/>
        </p:nvSpPr>
        <p:spPr>
          <a:xfrm xmlns:a="http://schemas.openxmlformats.org/drawingml/2006/main">
            <a:off x="8591550" y="3838575"/>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01828"/>
                </a:solidFill>
                <a:latin typeface="Apple SD Gothic Neo"/>
                <a:ea typeface="Apple SD Gothic Neo"/>
                <a:cs typeface="Apple SD Gothic Neo"/>
              </a:defRPr>
            </a:pPr>
            <a:r>
              <a:rPr sz="1725" b="1">
                <a:solidFill>
                  <a:srgbClr val="101828"/>
                </a:solidFill>
                <a:latin typeface="Apple SD Gothic Neo"/>
                <a:ea typeface="Apple SD Gothic Neo"/>
                <a:cs typeface="Apple SD Gothic Neo"/>
              </a:rPr>
              <a:t>중복 business key</a:t>
            </a:r>
          </a:p>
        </p:txBody>
      </p:sp>
      <p:sp>
        <p:nvSpPr>
          <p:cNvPr id="20" name="">
            <a:extLst xmlns:a="http://schemas.openxmlformats.org/drawingml/2006/main">
              <a:ext uri="{FF2B5EF4-FFF2-40B4-BE49-F238E27FC236}">
                <a16:creationId xmlns:a16="http://schemas.microsoft.com/office/drawing/2014/main" id="{8073699F-BF06-4BEE-9B77-38056579C38A}"/>
              </a:ext>
            </a:extLst>
          </p:cNvPr>
          <p:cNvSpPr>
            <a:spLocks xmlns:a="http://schemas.openxmlformats.org/drawingml/2006/main" noGrp="1"/>
          </p:cNvSpPr>
          <p:nvPr/>
        </p:nvSpPr>
        <p:spPr>
          <a:xfrm xmlns:a="http://schemas.openxmlformats.org/drawingml/2006/main">
            <a:off x="8591550" y="430530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67085"/>
                </a:solidFill>
                <a:latin typeface="Apple SD Gothic Neo"/>
                <a:ea typeface="Apple SD Gothic Neo"/>
                <a:cs typeface="Apple SD Gothic Neo"/>
              </a:defRPr>
            </a:pPr>
            <a:r>
              <a:rPr sz="1275" b="0">
                <a:solidFill>
                  <a:srgbClr val="667085"/>
                </a:solidFill>
                <a:latin typeface="Apple SD Gothic Neo"/>
                <a:ea typeface="Apple SD Gothic Neo"/>
                <a:cs typeface="Apple SD Gothic Neo"/>
              </a:rPr>
              <a:t>row 수와 business key 수 일치</a:t>
            </a:r>
          </a:p>
        </p:txBody>
      </p:sp>
      <p:sp>
        <p:nvSpPr>
          <p:cNvPr id="21" name="">
            <a:extLst xmlns:a="http://schemas.openxmlformats.org/drawingml/2006/main">
              <a:ext uri="{FF2B5EF4-FFF2-40B4-BE49-F238E27FC236}">
                <a16:creationId xmlns:a16="http://schemas.microsoft.com/office/drawing/2014/main" id="{18CCACFF-D7A5-4F7A-8963-FBA21E1787E5}"/>
              </a:ext>
            </a:extLst>
          </p:cNvPr>
          <p:cNvSpPr>
            <a:spLocks xmlns:a="http://schemas.openxmlformats.org/drawingml/2006/main" noGrp="1"/>
          </p:cNvSpPr>
          <p:nvPr/>
        </p:nvSpPr>
        <p:spPr>
          <a:xfrm xmlns:a="http://schemas.openxmlformats.org/drawingml/2006/main">
            <a:off x="533400" y="5495925"/>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a:solidFill>
                  <a:srgbClr val="101828"/>
                </a:solidFill>
                <a:latin typeface="Apple SD Gothic Neo"/>
                <a:ea typeface="Apple SD Gothic Neo"/>
                <a:cs typeface="Apple SD Gothic Neo"/>
              </a:defRPr>
            </a:pPr>
            <a:r>
              <a:rPr sz="1425" b="1">
                <a:solidFill>
                  <a:srgbClr val="101828"/>
                </a:solidFill>
                <a:latin typeface="Apple SD Gothic Neo"/>
                <a:ea typeface="Apple SD Gothic Neo"/>
                <a:cs typeface="Apple SD Gothic Neo"/>
              </a:rPr>
              <a:t>끝부분 봉은 2분 watermark가 진행되기 전이라 미확정 상태로 남겼습니다. 데이터 손실이 아닙니다.</a:t>
            </a:r>
          </a:p>
        </p:txBody>
      </p:sp>
    </p:spTree>
    <p:extLst>
      <p:ext uri="{BB962C8B-B14F-4D97-AF65-F5344CB8AC3E}">
        <p14:creationId xmlns:p14="http://schemas.microsoft.com/office/powerpoint/2010/main" val="88109677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eyebrow-6">
            <a:extLst xmlns:a="http://schemas.openxmlformats.org/drawingml/2006/main">
              <a:ext uri="{FF2B5EF4-FFF2-40B4-BE49-F238E27FC236}">
                <a16:creationId xmlns:a16="http://schemas.microsoft.com/office/drawing/2014/main" id="{B1FD83D7-C733-4CA3-957C-34B308A92463}"/>
              </a:ext>
            </a:extLst>
          </p:cNvPr>
          <p:cNvSpPr>
            <a:spLocks xmlns:a="http://schemas.openxmlformats.org/drawingml/2006/main" noGrp="1"/>
          </p:cNvSpPr>
          <p:nvPr/>
        </p:nvSpPr>
        <p:spPr>
          <a:xfrm xmlns:a="http://schemas.openxmlformats.org/drawingml/2006/main">
            <a:off x="533400" y="361950"/>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p xmlns:a="http://schemas.openxmlformats.org/drawingml/2006/main">
            <a:pPr algn="l">
              <a:defRPr sz="1125" b="1">
                <a:solidFill>
                  <a:srgbClr val="1570EF"/>
                </a:solidFill>
                <a:latin typeface="Apple SD Gothic Neo"/>
                <a:ea typeface="Apple SD Gothic Neo"/>
                <a:cs typeface="Apple SD Gothic Neo"/>
              </a:defRPr>
            </a:pPr>
            <a:r>
              <a:rPr sz="1125" b="1">
                <a:solidFill>
                  <a:srgbClr val="1570EF"/>
                </a:solidFill>
                <a:latin typeface="Apple SD Gothic Neo"/>
                <a:ea typeface="Apple SD Gothic Neo"/>
                <a:cs typeface="Apple SD Gothic Neo"/>
              </a:rPr>
              <a:t>RELIABILITY EVIDENCE</a:t>
            </a:r>
          </a:p>
        </p:txBody>
      </p:sp>
      <p:sp>
        <p:nvSpPr>
          <p:cNvPr id="2" name="title-6">
            <a:extLst xmlns:a="http://schemas.openxmlformats.org/drawingml/2006/main">
              <a:ext uri="{FF2B5EF4-FFF2-40B4-BE49-F238E27FC236}">
                <a16:creationId xmlns:a16="http://schemas.microsoft.com/office/drawing/2014/main" id="{DC905819-4009-4CA3-B5B2-8F148F8C1FB1}"/>
              </a:ext>
            </a:extLst>
          </p:cNvPr>
          <p:cNvSpPr>
            <a:spLocks xmlns:a="http://schemas.openxmlformats.org/drawingml/2006/main" noGrp="1"/>
          </p:cNvSpPr>
          <p:nvPr/>
        </p:nvSpPr>
        <p:spPr>
          <a:xfrm xmlns:a="http://schemas.openxmlformats.org/drawingml/2006/main">
            <a:off x="533400" y="685800"/>
            <a:ext cx="10572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101828"/>
                </a:solidFill>
                <a:latin typeface="Apple SD Gothic Neo"/>
                <a:ea typeface="Apple SD Gothic Neo"/>
                <a:cs typeface="Apple SD Gothic Neo"/>
              </a:defRPr>
            </a:pPr>
            <a:r>
              <a:rPr sz="2850" b="1">
                <a:solidFill>
                  <a:srgbClr val="101828"/>
                </a:solidFill>
                <a:latin typeface="Apple SD Gothic Neo"/>
                <a:ea typeface="Apple SD Gothic Neo"/>
                <a:cs typeface="Apple SD Gothic Neo"/>
              </a:rPr>
              <a:t>정상 실행뿐 아니라 지연·중복·재시작과 DB 장애도 확인했습니다</a:t>
            </a:r>
          </a:p>
        </p:txBody>
      </p:sp>
      <p:sp>
        <p:nvSpPr>
          <p:cNvPr id="3" name="">
            <a:extLst xmlns:a="http://schemas.openxmlformats.org/drawingml/2006/main">
              <a:ext uri="{FF2B5EF4-FFF2-40B4-BE49-F238E27FC236}">
                <a16:creationId xmlns:a16="http://schemas.microsoft.com/office/drawing/2014/main" id="{98F3267E-61C0-43FD-8440-971A5956AF06}"/>
              </a:ext>
            </a:extLst>
          </p:cNvPr>
          <p:cNvSpPr>
            <a:spLocks xmlns:a="http://schemas.openxmlformats.org/drawingml/2006/main" noGrp="1"/>
          </p:cNvSpPr>
          <p:nvPr/>
        </p:nvSpPr>
        <p:spPr>
          <a:xfrm xmlns:a="http://schemas.openxmlformats.org/drawingml/2006/main">
            <a:off x="533400" y="1457325"/>
            <a:ext cx="11125200" cy="0"/>
          </a:xfrm>
          <a:prstGeom xmlns:a="http://schemas.openxmlformats.org/drawingml/2006/main" prst="line">
            <a:avLst/>
          </a:prstGeom>
          <a:noFill xmlns:a="http://schemas.openxmlformats.org/drawingml/2006/main"/>
          <a:ln xmlns:a="http://schemas.openxmlformats.org/drawingml/2006/main" w="19050">
            <a:solidFill>
              <a:srgbClr val="101828"/>
            </a:solidFill>
            <a:prstDash val="solid"/>
          </a:ln>
        </p:spPr>
      </p:sp>
      <p:sp>
        <p:nvSpPr>
          <p:cNvPr id="4" name="">
            <a:extLst xmlns:a="http://schemas.openxmlformats.org/drawingml/2006/main">
              <a:ext uri="{FF2B5EF4-FFF2-40B4-BE49-F238E27FC236}">
                <a16:creationId xmlns:a16="http://schemas.microsoft.com/office/drawing/2014/main" id="{E90D0B52-8B04-4ADD-823A-A6060B6C8E30}"/>
              </a:ext>
            </a:extLst>
          </p:cNvPr>
          <p:cNvSpPr>
            <a:spLocks xmlns:a="http://schemas.openxmlformats.org/drawingml/2006/main" noGrp="1"/>
          </p:cNvSpPr>
          <p:nvPr/>
        </p:nvSpPr>
        <p:spPr>
          <a:xfrm xmlns:a="http://schemas.openxmlformats.org/drawingml/2006/main">
            <a:off x="11182350" y="64008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667085"/>
                </a:solidFill>
                <a:latin typeface="Apple SD Gothic Neo"/>
                <a:ea typeface="Apple SD Gothic Neo"/>
                <a:cs typeface="Apple SD Gothic Neo"/>
              </a:defRPr>
            </a:pPr>
            <a:r>
              <a:rPr sz="900" b="0">
                <a:solidFill>
                  <a:srgbClr val="667085"/>
                </a:solidFill>
                <a:latin typeface="Apple SD Gothic Neo"/>
                <a:ea typeface="Apple SD Gothic Neo"/>
                <a:cs typeface="Apple SD Gothic Neo"/>
              </a:rPr>
              <a:t>06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37be132f364426e"/>
          <a:stretch xmlns:a="http://schemas.openxmlformats.org/drawingml/2006/main"/>
        </p:blipFill>
        <p:spPr>
          <a:xfrm xmlns:a="http://schemas.openxmlformats.org/drawingml/2006/main">
            <a:off x="533400" y="1772245"/>
            <a:ext cx="5314950" cy="2989659"/>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48e8671080e4811"/>
          <a:stretch xmlns:a="http://schemas.openxmlformats.org/drawingml/2006/main"/>
        </p:blipFill>
        <p:spPr>
          <a:xfrm xmlns:a="http://schemas.openxmlformats.org/drawingml/2006/main">
            <a:off x="6343650" y="1772245"/>
            <a:ext cx="5314950" cy="2989659"/>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1F8CE96-1C76-4229-B5A2-D85C8DD219BC}"/>
              </a:ext>
            </a:extLst>
          </p:cNvPr>
          <p:cNvSpPr>
            <a:spLocks xmlns:a="http://schemas.openxmlformats.org/drawingml/2006/main" noGrp="1"/>
          </p:cNvSpPr>
          <p:nvPr/>
        </p:nvSpPr>
        <p:spPr>
          <a:xfrm xmlns:a="http://schemas.openxmlformats.org/drawingml/2006/main">
            <a:off x="533400" y="4953000"/>
            <a:ext cx="5314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a:solidFill>
                  <a:srgbClr val="101828"/>
                </a:solidFill>
                <a:latin typeface="Apple SD Gothic Neo"/>
                <a:ea typeface="Apple SD Gothic Neo"/>
                <a:cs typeface="Apple SD Gothic Neo"/>
              </a:defRPr>
            </a:pPr>
            <a:r>
              <a:rPr sz="1650" b="1">
                <a:solidFill>
                  <a:srgbClr val="101828"/>
                </a:solidFill>
                <a:latin typeface="Apple SD Gothic Neo"/>
                <a:ea typeface="Apple SD Gothic Neo"/>
                <a:cs typeface="Apple SD Gothic Neo"/>
              </a:rPr>
              <a:t>45 unit tests OK · Kafka/Spark integration 2/2</a:t>
            </a:r>
          </a:p>
        </p:txBody>
      </p:sp>
      <p:sp>
        <p:nvSpPr>
          <p:cNvPr id="8" name="">
            <a:extLst xmlns:a="http://schemas.openxmlformats.org/drawingml/2006/main">
              <a:ext uri="{FF2B5EF4-FFF2-40B4-BE49-F238E27FC236}">
                <a16:creationId xmlns:a16="http://schemas.microsoft.com/office/drawing/2014/main" id="{7C3903C8-72CB-409A-96CB-615141A24555}"/>
              </a:ext>
            </a:extLst>
          </p:cNvPr>
          <p:cNvSpPr>
            <a:spLocks xmlns:a="http://schemas.openxmlformats.org/drawingml/2006/main" noGrp="1"/>
          </p:cNvSpPr>
          <p:nvPr/>
        </p:nvSpPr>
        <p:spPr>
          <a:xfrm xmlns:a="http://schemas.openxmlformats.org/drawingml/2006/main">
            <a:off x="6343650" y="4953000"/>
            <a:ext cx="5314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a:solidFill>
                  <a:srgbClr val="101828"/>
                </a:solidFill>
                <a:latin typeface="Apple SD Gothic Neo"/>
                <a:ea typeface="Apple SD Gothic Neo"/>
                <a:cs typeface="Apple SD Gothic Neo"/>
              </a:defRPr>
            </a:pPr>
            <a:r>
              <a:rPr sz="1650" b="1">
                <a:solidFill>
                  <a:srgbClr val="101828"/>
                </a:solidFill>
                <a:latin typeface="Apple SD Gothic Neo"/>
                <a:ea typeface="Apple SD Gothic Neo"/>
                <a:cs typeface="Apple SD Gothic Neo"/>
              </a:rPr>
              <a:t>DB 중단 중 실패 → 동일 batch 재시도 → 최종 row 1</a:t>
            </a:r>
          </a:p>
        </p:txBody>
      </p:sp>
      <p:sp>
        <p:nvSpPr>
          <p:cNvPr id="9" name="">
            <a:extLst xmlns:a="http://schemas.openxmlformats.org/drawingml/2006/main">
              <a:ext uri="{FF2B5EF4-FFF2-40B4-BE49-F238E27FC236}">
                <a16:creationId xmlns:a16="http://schemas.microsoft.com/office/drawing/2014/main" id="{BE8074D6-A29A-4C09-8B93-1AFDC6925987}"/>
              </a:ext>
            </a:extLst>
          </p:cNvPr>
          <p:cNvSpPr>
            <a:spLocks xmlns:a="http://schemas.openxmlformats.org/drawingml/2006/main" noGrp="1"/>
          </p:cNvSpPr>
          <p:nvPr/>
        </p:nvSpPr>
        <p:spPr>
          <a:xfrm xmlns:a="http://schemas.openxmlformats.org/drawingml/2006/main">
            <a:off x="533400" y="5810250"/>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667085"/>
                </a:solidFill>
                <a:latin typeface="Apple SD Gothic Neo"/>
                <a:ea typeface="Apple SD Gothic Neo"/>
                <a:cs typeface="Apple SD Gothic Neo"/>
              </a:defRPr>
            </a:pPr>
            <a:r>
              <a:rPr sz="1350" b="0">
                <a:solidFill>
                  <a:srgbClr val="667085"/>
                </a:solidFill>
                <a:latin typeface="Apple SD Gothic Neo"/>
                <a:ea typeface="Apple SD Gothic Neo"/>
                <a:cs typeface="Apple SD Gothic Neo"/>
              </a:rPr>
              <a:t>캡처에는 API key, connection URL, 원본 payload를 포함하지 않았습니다.</a:t>
            </a:r>
          </a:p>
        </p:txBody>
      </p:sp>
    </p:spTree>
    <p:extLst>
      <p:ext uri="{BB962C8B-B14F-4D97-AF65-F5344CB8AC3E}">
        <p14:creationId xmlns:p14="http://schemas.microsoft.com/office/powerpoint/2010/main" val="38782254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1D9B6ED-8397-4481-80E5-43DE7981596E}"/>
              </a:ext>
            </a:extLst>
          </p:cNvPr>
          <p:cNvSpPr>
            <a:spLocks xmlns:a="http://schemas.openxmlformats.org/drawingml/2006/main" noGrp="1"/>
          </p:cNvSpPr>
          <p:nvPr/>
        </p:nvSpPr>
        <p:spPr>
          <a:xfrm xmlns:a="http://schemas.openxmlformats.org/drawingml/2006/main">
            <a:off x="533400" y="428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a:solidFill>
                  <a:srgbClr val="1570EF"/>
                </a:solidFill>
                <a:latin typeface="Apple SD Gothic Neo"/>
                <a:ea typeface="Apple SD Gothic Neo"/>
                <a:cs typeface="Apple SD Gothic Neo"/>
              </a:defRPr>
            </a:pPr>
            <a:r>
              <a:rPr sz="1200" b="1">
                <a:solidFill>
                  <a:srgbClr val="1570EF"/>
                </a:solidFill>
                <a:latin typeface="Apple SD Gothic Neo"/>
                <a:ea typeface="Apple SD Gothic Neo"/>
                <a:cs typeface="Apple SD Gothic Neo"/>
              </a:rPr>
              <a:t>CURRENT → NEXT</a:t>
            </a:r>
          </a:p>
        </p:txBody>
      </p:sp>
      <p:sp>
        <p:nvSpPr>
          <p:cNvPr id="2" name="">
            <a:extLst xmlns:a="http://schemas.openxmlformats.org/drawingml/2006/main">
              <a:ext uri="{FF2B5EF4-FFF2-40B4-BE49-F238E27FC236}">
                <a16:creationId xmlns:a16="http://schemas.microsoft.com/office/drawing/2014/main" id="{44AF6880-34D0-4C9F-B03E-CFBBFEE8B85D}"/>
              </a:ext>
            </a:extLst>
          </p:cNvPr>
          <p:cNvSpPr>
            <a:spLocks xmlns:a="http://schemas.openxmlformats.org/drawingml/2006/main" noGrp="1"/>
          </p:cNvSpPr>
          <p:nvPr/>
        </p:nvSpPr>
        <p:spPr>
          <a:xfrm xmlns:a="http://schemas.openxmlformats.org/drawingml/2006/main">
            <a:off x="533400" y="1362075"/>
            <a:ext cx="876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4050" b="1">
                <a:solidFill>
                  <a:srgbClr val="101828"/>
                </a:solidFill>
                <a:latin typeface="Apple SD Gothic Neo"/>
                <a:ea typeface="Apple SD Gothic Neo"/>
                <a:cs typeface="Apple SD Gothic Neo"/>
              </a:defRPr>
            </a:pPr>
            <a:r>
              <a:rPr sz="4050" b="1">
                <a:solidFill>
                  <a:srgbClr val="101828"/>
                </a:solidFill>
                <a:latin typeface="Apple SD Gothic Neo"/>
                <a:ea typeface="Apple SD Gothic Neo"/>
                <a:cs typeface="Apple SD Gothic Neo"/>
              </a:rPr>
              <a:t>이번 과제 범위는 완료했고,</a:t>
            </a:r>
          </a:p>
          <a:p xmlns:a="http://schemas.openxmlformats.org/drawingml/2006/main">
            <a:pPr algn="l">
              <a:defRPr sz="4050" b="1">
                <a:solidFill>
                  <a:srgbClr val="101828"/>
                </a:solidFill>
                <a:latin typeface="Apple SD Gothic Neo"/>
                <a:ea typeface="Apple SD Gothic Neo"/>
                <a:cs typeface="Apple SD Gothic Neo"/>
              </a:defRPr>
            </a:pPr>
            <a:r>
              <a:rPr sz="4050" b="1">
                <a:solidFill>
                  <a:srgbClr val="101828"/>
                </a:solidFill>
                <a:latin typeface="Apple SD Gothic Neo"/>
                <a:ea typeface="Apple SD Gothic Neo"/>
                <a:cs typeface="Apple SD Gothic Neo"/>
              </a:rPr>
              <a:t>다음은 실시간 전체 경로입니다</a:t>
            </a:r>
          </a:p>
        </p:txBody>
      </p:sp>
      <p:sp>
        <p:nvSpPr>
          <p:cNvPr id="3" name="">
            <a:extLst xmlns:a="http://schemas.openxmlformats.org/drawingml/2006/main">
              <a:ext uri="{FF2B5EF4-FFF2-40B4-BE49-F238E27FC236}">
                <a16:creationId xmlns:a16="http://schemas.microsoft.com/office/drawing/2014/main" id="{5CCD5217-A467-4DC2-BB82-4605767B3148}"/>
              </a:ext>
            </a:extLst>
          </p:cNvPr>
          <p:cNvSpPr>
            <a:spLocks xmlns:a="http://schemas.openxmlformats.org/drawingml/2006/main" noGrp="1"/>
          </p:cNvSpPr>
          <p:nvPr/>
        </p:nvSpPr>
        <p:spPr>
          <a:xfrm xmlns:a="http://schemas.openxmlformats.org/drawingml/2006/main">
            <a:off x="533400" y="3886200"/>
            <a:ext cx="114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067647"/>
                </a:solidFill>
                <a:latin typeface="Apple SD Gothic Neo"/>
                <a:ea typeface="Apple SD Gothic Neo"/>
                <a:cs typeface="Apple SD Gothic Neo"/>
              </a:defRPr>
            </a:pPr>
            <a:r>
              <a:rPr sz="1875" b="1">
                <a:solidFill>
                  <a:srgbClr val="067647"/>
                </a:solidFill>
                <a:latin typeface="Apple SD Gothic Neo"/>
                <a:ea typeface="Apple SD Gothic Neo"/>
                <a:cs typeface="Apple SD Gothic Neo"/>
              </a:rPr>
              <a:t>완료</a:t>
            </a:r>
          </a:p>
        </p:txBody>
      </p:sp>
      <p:sp>
        <p:nvSpPr>
          <p:cNvPr id="4" name="">
            <a:extLst xmlns:a="http://schemas.openxmlformats.org/drawingml/2006/main">
              <a:ext uri="{FF2B5EF4-FFF2-40B4-BE49-F238E27FC236}">
                <a16:creationId xmlns:a16="http://schemas.microsoft.com/office/drawing/2014/main" id="{7F07B143-46F6-46C3-ACED-C6140E583E83}"/>
              </a:ext>
            </a:extLst>
          </p:cNvPr>
          <p:cNvSpPr>
            <a:spLocks xmlns:a="http://schemas.openxmlformats.org/drawingml/2006/main" noGrp="1"/>
          </p:cNvSpPr>
          <p:nvPr/>
        </p:nvSpPr>
        <p:spPr>
          <a:xfrm xmlns:a="http://schemas.openxmlformats.org/drawingml/2006/main">
            <a:off x="533400" y="4381500"/>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101828"/>
                </a:solidFill>
                <a:latin typeface="Apple SD Gothic Neo"/>
                <a:ea typeface="Apple SD Gothic Neo"/>
                <a:cs typeface="Apple SD Gothic Neo"/>
              </a:defRPr>
            </a:pPr>
            <a:r>
              <a:rPr sz="1575" b="0">
                <a:solidFill>
                  <a:srgbClr val="101828"/>
                </a:solidFill>
                <a:latin typeface="Apple SD Gothic Neo"/>
                <a:ea typeface="Apple SD Gothic Neo"/>
                <a:cs typeface="Apple SD Gothic Neo"/>
              </a:rPr>
              <a:t>실제 데이터 → Kafka → Spark → PostgreSQL 저장</a:t>
            </a:r>
          </a:p>
          <a:p xmlns:a="http://schemas.openxmlformats.org/drawingml/2006/main">
            <a:pPr algn="l">
              <a:defRPr sz="1575" b="0">
                <a:solidFill>
                  <a:srgbClr val="101828"/>
                </a:solidFill>
                <a:latin typeface="Apple SD Gothic Neo"/>
                <a:ea typeface="Apple SD Gothic Neo"/>
                <a:cs typeface="Apple SD Gothic Neo"/>
              </a:defRPr>
            </a:pPr>
            <a:r>
              <a:rPr sz="1575" b="0">
                <a:solidFill>
                  <a:srgbClr val="101828"/>
                </a:solidFill>
                <a:latin typeface="Apple SD Gothic Neo"/>
                <a:ea typeface="Apple SD Gothic Neo"/>
                <a:cs typeface="Apple SD Gothic Neo"/>
              </a:rPr>
              <a:t>아키텍처·재현 명령·결과 JSON·안전한 캡처</a:t>
            </a:r>
          </a:p>
        </p:txBody>
      </p:sp>
      <p:sp>
        <p:nvSpPr>
          <p:cNvPr id="5" name="">
            <a:extLst xmlns:a="http://schemas.openxmlformats.org/drawingml/2006/main">
              <a:ext uri="{FF2B5EF4-FFF2-40B4-BE49-F238E27FC236}">
                <a16:creationId xmlns:a16="http://schemas.microsoft.com/office/drawing/2014/main" id="{501CA750-0036-46C9-AFBC-D7B56D1821C7}"/>
              </a:ext>
            </a:extLst>
          </p:cNvPr>
          <p:cNvSpPr>
            <a:spLocks xmlns:a="http://schemas.openxmlformats.org/drawingml/2006/main" noGrp="1"/>
          </p:cNvSpPr>
          <p:nvPr/>
        </p:nvSpPr>
        <p:spPr>
          <a:xfrm xmlns:a="http://schemas.openxmlformats.org/drawingml/2006/main">
            <a:off x="6324600" y="3886200"/>
            <a:ext cx="114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7F56D9"/>
                </a:solidFill>
                <a:latin typeface="Apple SD Gothic Neo"/>
                <a:ea typeface="Apple SD Gothic Neo"/>
                <a:cs typeface="Apple SD Gothic Neo"/>
              </a:defRPr>
            </a:pPr>
            <a:r>
              <a:rPr sz="1875" b="1">
                <a:solidFill>
                  <a:srgbClr val="7F56D9"/>
                </a:solidFill>
                <a:latin typeface="Apple SD Gothic Neo"/>
                <a:ea typeface="Apple SD Gothic Neo"/>
                <a:cs typeface="Apple SD Gothic Neo"/>
              </a:rPr>
              <a:t>다음</a:t>
            </a:r>
          </a:p>
        </p:txBody>
      </p:sp>
      <p:sp>
        <p:nvSpPr>
          <p:cNvPr id="6" name="">
            <a:extLst xmlns:a="http://schemas.openxmlformats.org/drawingml/2006/main">
              <a:ext uri="{FF2B5EF4-FFF2-40B4-BE49-F238E27FC236}">
                <a16:creationId xmlns:a16="http://schemas.microsoft.com/office/drawing/2014/main" id="{5002CAE1-7CFC-4B7B-AA01-7FC881E315C4}"/>
              </a:ext>
            </a:extLst>
          </p:cNvPr>
          <p:cNvSpPr>
            <a:spLocks xmlns:a="http://schemas.openxmlformats.org/drawingml/2006/main" noGrp="1"/>
          </p:cNvSpPr>
          <p:nvPr/>
        </p:nvSpPr>
        <p:spPr>
          <a:xfrm xmlns:a="http://schemas.openxmlformats.org/drawingml/2006/main">
            <a:off x="6324600" y="4381500"/>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101828"/>
                </a:solidFill>
                <a:latin typeface="Apple SD Gothic Neo"/>
                <a:ea typeface="Apple SD Gothic Neo"/>
                <a:cs typeface="Apple SD Gothic Neo"/>
              </a:defRPr>
            </a:pPr>
            <a:r>
              <a:rPr sz="1575" b="0">
                <a:solidFill>
                  <a:srgbClr val="101828"/>
                </a:solidFill>
                <a:latin typeface="Apple SD Gothic Neo"/>
                <a:ea typeface="Apple SD Gothic Neo"/>
                <a:cs typeface="Apple SD Gothic Neo"/>
              </a:rPr>
              <a:t>다음 미국 정규장 WebSocket → PostgreSQL E2E</a:t>
            </a:r>
          </a:p>
          <a:p xmlns:a="http://schemas.openxmlformats.org/drawingml/2006/main">
            <a:pPr algn="l">
              <a:defRPr sz="1575" b="0">
                <a:solidFill>
                  <a:srgbClr val="101828"/>
                </a:solidFill>
                <a:latin typeface="Apple SD Gothic Neo"/>
                <a:ea typeface="Apple SD Gothic Neo"/>
                <a:cs typeface="Apple SD Gothic Neo"/>
              </a:defRPr>
            </a:pPr>
            <a:r>
              <a:rPr sz="1575" b="0">
                <a:solidFill>
                  <a:srgbClr val="101828"/>
                </a:solidFill>
                <a:latin typeface="Apple SD Gothic Neo"/>
                <a:ea typeface="Apple SD Gothic Neo"/>
                <a:cs typeface="Apple SD Gothic Neo"/>
              </a:rPr>
              <a:t>FRED/ALFRED 경제지표와 발표 전후 영향 분석</a:t>
            </a:r>
          </a:p>
        </p:txBody>
      </p:sp>
      <p:sp>
        <p:nvSpPr>
          <p:cNvPr id="7" name="">
            <a:extLst xmlns:a="http://schemas.openxmlformats.org/drawingml/2006/main">
              <a:ext uri="{FF2B5EF4-FFF2-40B4-BE49-F238E27FC236}">
                <a16:creationId xmlns:a16="http://schemas.microsoft.com/office/drawing/2014/main" id="{C7D00805-A990-4CE1-89CB-BFA2537BB9C5}"/>
              </a:ext>
            </a:extLst>
          </p:cNvPr>
          <p:cNvSpPr>
            <a:spLocks xmlns:a="http://schemas.openxmlformats.org/drawingml/2006/main" noGrp="1"/>
          </p:cNvSpPr>
          <p:nvPr/>
        </p:nvSpPr>
        <p:spPr>
          <a:xfrm xmlns:a="http://schemas.openxmlformats.org/drawingml/2006/main">
            <a:off x="533400" y="5772150"/>
            <a:ext cx="111252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8" name="">
            <a:extLst xmlns:a="http://schemas.openxmlformats.org/drawingml/2006/main">
              <a:ext uri="{FF2B5EF4-FFF2-40B4-BE49-F238E27FC236}">
                <a16:creationId xmlns:a16="http://schemas.microsoft.com/office/drawing/2014/main" id="{40DA8A41-B074-4AAC-BACA-66CAD96B8858}"/>
              </a:ext>
            </a:extLst>
          </p:cNvPr>
          <p:cNvSpPr>
            <a:spLocks xmlns:a="http://schemas.openxmlformats.org/drawingml/2006/main" noGrp="1"/>
          </p:cNvSpPr>
          <p:nvPr/>
        </p:nvSpPr>
        <p:spPr>
          <a:xfrm xmlns:a="http://schemas.openxmlformats.org/drawingml/2006/main">
            <a:off x="533400" y="6019800"/>
            <a:ext cx="990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p xmlns:a="http://schemas.openxmlformats.org/drawingml/2006/main">
            <a:pPr algn="l">
              <a:defRPr sz="1500" b="1">
                <a:solidFill>
                  <a:srgbClr val="1570EF"/>
                </a:solidFill>
                <a:latin typeface="Apple SD Gothic Neo"/>
                <a:ea typeface="Apple SD Gothic Neo"/>
                <a:cs typeface="Apple SD Gothic Neo"/>
              </a:defRPr>
            </a:pPr>
            <a:r>
              <a:rPr sz="1500" b="1">
                <a:solidFill>
                  <a:srgbClr val="1570EF"/>
                </a:solidFill>
                <a:latin typeface="Apple SD Gothic Neo"/>
                <a:ea typeface="Apple SD Gothic Neo"/>
                <a:cs typeface="Apple SD Gothic Neo"/>
              </a:rPr>
              <a:t>피드백 요청: 현재 IEX 범위와 Spark 사용 근거가 적절한가?</a:t>
            </a:r>
          </a:p>
        </p:txBody>
      </p:sp>
      <p:sp>
        <p:nvSpPr>
          <p:cNvPr id="9" name="">
            <a:extLst xmlns:a="http://schemas.openxmlformats.org/drawingml/2006/main">
              <a:ext uri="{FF2B5EF4-FFF2-40B4-BE49-F238E27FC236}">
                <a16:creationId xmlns:a16="http://schemas.microsoft.com/office/drawing/2014/main" id="{C6EAD8C2-26E1-4608-891A-E944B635EAAC}"/>
              </a:ext>
            </a:extLst>
          </p:cNvPr>
          <p:cNvSpPr>
            <a:spLocks xmlns:a="http://schemas.openxmlformats.org/drawingml/2006/main" noGrp="1"/>
          </p:cNvSpPr>
          <p:nvPr/>
        </p:nvSpPr>
        <p:spPr>
          <a:xfrm xmlns:a="http://schemas.openxmlformats.org/drawingml/2006/main">
            <a:off x="11182350" y="64008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667085"/>
                </a:solidFill>
                <a:latin typeface="Apple SD Gothic Neo"/>
                <a:ea typeface="Apple SD Gothic Neo"/>
                <a:cs typeface="Apple SD Gothic Neo"/>
              </a:defRPr>
            </a:pPr>
            <a:r>
              <a:rPr sz="900" b="0">
                <a:solidFill>
                  <a:srgbClr val="667085"/>
                </a:solidFill>
                <a:latin typeface="Apple SD Gothic Neo"/>
                <a:ea typeface="Apple SD Gothic Neo"/>
                <a:cs typeface="Apple SD Gothic Neo"/>
              </a:rPr>
              <a:t>07</a:t>
            </a:r>
          </a:p>
        </p:txBody>
      </p:sp>
    </p:spTree>
    <p:extLst>
      <p:ext uri="{BB962C8B-B14F-4D97-AF65-F5344CB8AC3E}">
        <p14:creationId xmlns:p14="http://schemas.microsoft.com/office/powerpoint/2010/main" val="20250653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2026-08-20T07:11:58.0020000Z</dcterms:created>
  <dcterms:modified xsi:type="dcterms:W3CDTF">2026-08-20T07:11:58.0030000Z</dcterms:modified>
</coreProperties>
</file>