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43b0b882ce34d15" /><Relationship Type="http://schemas.openxmlformats.org/officeDocument/2006/relationships/extended-properties" Target="/docProps/app.xml" Id="R10ffb1905ba94eba" /><Relationship Type="http://schemas.openxmlformats.org/officeDocument/2006/relationships/officeDocument" Target="/ppt/presentation.xml" Id="R1b1e0ceb17474aba" /></Relationships>
</file>

<file path=ppt/presentation.xml><?xml version="1.0" encoding="utf-8"?>
<p:presentation xmlns:p="http://schemas.openxmlformats.org/presentationml/2006/main">
  <p:sldMasterIdLst>
    <p:sldMasterId xmlns:r="http://schemas.openxmlformats.org/officeDocument/2006/relationships" id="2147483648" r:id="R8b1db6b6e43545ae"/>
  </p:sldMasterIdLst>
  <p:notesMasterIdLst>
    <p:notesMasterId xmlns:r="http://schemas.openxmlformats.org/officeDocument/2006/relationships" r:id="R5f6122255568499c"/>
  </p:notesMasterIdLst>
  <p:sldIdLst>
    <p:sldId xmlns:r="http://schemas.openxmlformats.org/officeDocument/2006/relationships" id="256" r:id="Rc8fc4f1df33049e0"/>
    <p:sldId xmlns:r="http://schemas.openxmlformats.org/officeDocument/2006/relationships" id="257" r:id="R9ea472c6c39342dc"/>
    <p:sldId xmlns:r="http://schemas.openxmlformats.org/officeDocument/2006/relationships" id="258" r:id="Rc16c077b62764a3b"/>
    <p:sldId xmlns:r="http://schemas.openxmlformats.org/officeDocument/2006/relationships" id="259" r:id="Rc5687a7a8f8642e7"/>
    <p:sldId xmlns:r="http://schemas.openxmlformats.org/officeDocument/2006/relationships" id="260" r:id="Re667162faf924031"/>
    <p:sldId xmlns:r="http://schemas.openxmlformats.org/officeDocument/2006/relationships" id="261" r:id="R1571352f88b346f5"/>
    <p:sldId xmlns:r="http://schemas.openxmlformats.org/officeDocument/2006/relationships" id="262" r:id="R19de9f576f434b0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d5887efa48f44c2" /><Relationship Type="http://schemas.openxmlformats.org/officeDocument/2006/relationships/slideMaster" Target="/ppt/slideMasters/slideMaster1.xml" Id="R8b1db6b6e43545ae" /><Relationship Type="http://schemas.openxmlformats.org/officeDocument/2006/relationships/notesMaster" Target="/ppt/notesMasters/notesMaster1.xml" Id="R5f6122255568499c" /><Relationship Type="http://schemas.openxmlformats.org/officeDocument/2006/relationships/presProps" Target="/ppt/presProps.xml" Id="Rd098160eeae54703" /><Relationship Type="http://schemas.openxmlformats.org/officeDocument/2006/relationships/tableStyles" Target="/ppt/tableStyles.xml" Id="Rddaea15deaf34633" /><Relationship Type="http://schemas.openxmlformats.org/officeDocument/2006/relationships/slide" Target="/ppt/slides/slide1.xml" Id="Rc8fc4f1df33049e0" /><Relationship Type="http://schemas.openxmlformats.org/officeDocument/2006/relationships/slide" Target="/ppt/slides/slide2.xml" Id="R9ea472c6c39342dc" /><Relationship Type="http://schemas.openxmlformats.org/officeDocument/2006/relationships/slide" Target="/ppt/slides/slide3.xml" Id="Rc16c077b62764a3b" /><Relationship Type="http://schemas.openxmlformats.org/officeDocument/2006/relationships/slide" Target="/ppt/slides/slide4.xml" Id="Rc5687a7a8f8642e7" /><Relationship Type="http://schemas.openxmlformats.org/officeDocument/2006/relationships/slide" Target="/ppt/slides/slide5.xml" Id="Re667162faf924031" /><Relationship Type="http://schemas.openxmlformats.org/officeDocument/2006/relationships/slide" Target="/ppt/slides/slide6.xml" Id="R1571352f88b346f5" /><Relationship Type="http://schemas.openxmlformats.org/officeDocument/2006/relationships/slide" Target="/ppt/slides/slide7.xml" Id="R19de9f576f434b0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d58696fde18452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a27f9d8a75442fe" /><Relationship Type="http://schemas.openxmlformats.org/officeDocument/2006/relationships/notesMaster" Target="/ppt/notesMasters/notesMaster1.xml" Id="R8084357cb489467b"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1bbee7460b463c" /><Relationship Type="http://schemas.openxmlformats.org/officeDocument/2006/relationships/notesMaster" Target="/ppt/notesMasters/notesMaster1.xml" Id="Rd80c10406d8f4f8d" /></Relationships>
</file>

<file path=ppt/notesSlides/_rels/notesSlide3.xml.rels>&#65279;<?xml version="1.0" encoding="utf-8"?><Relationships xmlns="http://schemas.openxmlformats.org/package/2006/relationships"><Relationship Type="http://schemas.openxmlformats.org/officeDocument/2006/relationships/slide" Target="/ppt/slides/slide3.xml" Id="R4cd3a90dec784ef0" /><Relationship Type="http://schemas.openxmlformats.org/officeDocument/2006/relationships/notesMaster" Target="/ppt/notesMasters/notesMaster1.xml" Id="Reddadc5b68c440b1" /></Relationships>
</file>

<file path=ppt/notesSlides/_rels/notesSlide4.xml.rels>&#65279;<?xml version="1.0" encoding="utf-8"?><Relationships xmlns="http://schemas.openxmlformats.org/package/2006/relationships"><Relationship Type="http://schemas.openxmlformats.org/officeDocument/2006/relationships/slide" Target="/ppt/slides/slide4.xml" Id="Rebd7d34f87024e7b" /><Relationship Type="http://schemas.openxmlformats.org/officeDocument/2006/relationships/notesMaster" Target="/ppt/notesMasters/notesMaster1.xml" Id="Rfd998f40bdf14e4e" /></Relationships>
</file>

<file path=ppt/notesSlides/_rels/notesSlide5.xml.rels>&#65279;<?xml version="1.0" encoding="utf-8"?><Relationships xmlns="http://schemas.openxmlformats.org/package/2006/relationships"><Relationship Type="http://schemas.openxmlformats.org/officeDocument/2006/relationships/slide" Target="/ppt/slides/slide5.xml" Id="Rbd41c073d04a4431" /><Relationship Type="http://schemas.openxmlformats.org/officeDocument/2006/relationships/notesMaster" Target="/ppt/notesMasters/notesMaster1.xml" Id="R11ad6fad91a84a39" /></Relationships>
</file>

<file path=ppt/notesSlides/_rels/notesSlide6.xml.rels>&#65279;<?xml version="1.0" encoding="utf-8"?><Relationships xmlns="http://schemas.openxmlformats.org/package/2006/relationships"><Relationship Type="http://schemas.openxmlformats.org/officeDocument/2006/relationships/slide" Target="/ppt/slides/slide6.xml" Id="R89106ab20e464dd9" /><Relationship Type="http://schemas.openxmlformats.org/officeDocument/2006/relationships/notesMaster" Target="/ppt/notesMasters/notesMaster1.xml" Id="R876325b6adc54f45" /></Relationships>
</file>

<file path=ppt/notesSlides/_rels/notesSlide7.xml.rels>&#65279;<?xml version="1.0" encoding="utf-8"?><Relationships xmlns="http://schemas.openxmlformats.org/package/2006/relationships"><Relationship Type="http://schemas.openxmlformats.org/officeDocument/2006/relationships/slide" Target="/ppt/slides/slide7.xml" Id="Re89904ca8716410b" /><Relationship Type="http://schemas.openxmlformats.org/officeDocument/2006/relationships/notesMaster" Target="/ppt/notesMasters/notesMaster1.xml" Id="R6ffcf35dcf2542c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제 프로젝트는 실제 미국 주식 거래 데이터를 수집해서 1분봉으로 저장하는 데이터 파이프라인입니다. 최종적으로는 CPI, 고용, 금리 같은 경제지표 발표 전후에 주가와 거래량, 변동성이 어떻게 달라졌는지 검증하려고 합니다. 이번 과제에서는 분석이나 주문 기능보다 실제 데이터가 수집되고 처리되고 저장되는 전체 흐름에 집중했습니다.</a:t>
            </a:r>
          </a:p>
          <a:p xmlns:a="http://schemas.openxmlformats.org/drawingml/2006/main">
            <a:r>
              <a:t/>
            </a:r>
          </a:p>
          <a:p xmlns:a="http://schemas.openxmlformats.org/drawingml/2006/main">
            <a:r>
              <a:t>[Sources]</a:t>
            </a:r>
          </a:p>
          <a:p xmlns:a="http://schemas.openxmlformats.org/drawingml/2006/main">
            <a:r>
              <a:t>- /Users/hanjeonghyun/dev/2026/for_my_stock/README.md</a:t>
            </a:r>
          </a:p>
          <a:p xmlns:a="http://schemas.openxmlformats.org/drawingml/2006/main">
            <a:r>
              <a:t>- /Users/hanjeonghyun/dev/2026/for_my_stock/docs/final-vision.md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주식 데이터는 Alpaca에서 가져옵니다. WebSocket에서는 SPY, QQQ, NVDA 실제 거래 10건을 Kafka까지 확인했습니다. 같은 처리를 다시 확인하기 위해 Historical API에서 SMH의 2026년 8월 19일 19시 50분부터 19시 56분까지 실제 거래도 가져왔습니다. 다음 단계에서는 BLS, BEA, 연준의 공식 경제지표를 FRED와 ALFRED의 시계열 및 당시 공개 값과 함께 수집할 계획입니다. 경제지표 수집은 아직 구현 전입니다.</a:t>
            </a:r>
          </a:p>
          <a:p xmlns:a="http://schemas.openxmlformats.org/drawingml/2006/main">
            <a:r>
              <a:t/>
            </a:r>
          </a:p>
          <a:p xmlns:a="http://schemas.openxmlformats.org/drawingml/2006/main">
            <a:r>
              <a:t>[Sources]</a:t>
            </a:r>
          </a:p>
          <a:p xmlns:a="http://schemas.openxmlformats.org/drawingml/2006/main">
            <a:r>
              <a:t>- https://docs.alpaca.markets/us/docs/real-time-stock-pricing-data</a:t>
            </a:r>
          </a:p>
          <a:p xmlns:a="http://schemas.openxmlformats.org/drawingml/2006/main">
            <a:r>
              <a:t>- https://docs.alpaca.markets/us/reference/stocktradesingle-1</a:t>
            </a:r>
          </a:p>
          <a:p xmlns:a="http://schemas.openxmlformats.org/drawingml/2006/main">
            <a:r>
              <a:t>- /Users/hanjeonghyun/dev/2026/for_my_stock/docs/data-source-catalog.md</a:t>
            </a:r>
          </a:p>
          <a:p xmlns:a="http://schemas.openxmlformats.org/drawingml/2006/main">
            <a:r>
              <a:t>- /Users/hanjeonghyun/dev/2026/for_my_stock/docs/test-results/2026-08-19-kafka-producer-smoke.md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흐름은 Alpaca, Python 수집기, Kafka, Spark, PostgreSQL 순서입니다. Kafka는 원본 거래를 24시간 보관하고, Spark는 개별 거래를 1분 단위로 묶어 OHLCV와 거래 건수, VWAP을 계산합니다. 완성된 1분봉은 PostgreSQL에 저장합니다. 그림 아래쪽의 경제지표 수집과 Airflow 배치, 분석 화면은 앞으로 구현할 부분입니다.</a:t>
            </a:r>
          </a:p>
          <a:p xmlns:a="http://schemas.openxmlformats.org/drawingml/2006/main">
            <a:r>
              <a:t/>
            </a:r>
          </a:p>
          <a:p xmlns:a="http://schemas.openxmlformats.org/drawingml/2006/main">
            <a:r>
              <a:t>[Sources]</a:t>
            </a:r>
          </a:p>
          <a:p xmlns:a="http://schemas.openxmlformats.org/drawingml/2006/main">
            <a:r>
              <a:t>- /Users/hanjeonghyun/dev/2026/for_my_stock/docs/diagrams/pipeline-architecture.png</a:t>
            </a:r>
          </a:p>
          <a:p xmlns:a="http://schemas.openxmlformats.org/drawingml/2006/main">
            <a:r>
              <a:t>- /Users/hanjeonghyun/dev/2026/for_my_stock/docs/architecture.md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Kafka는 수집과 처리를 분리하고 장애가 생겨도 원본 데이터를 다시 읽기 위해 사용했습니다. Spark는 실제 거래 시각 기준의 1분 집계와 중복·지연 데이터 처리를 맡습니다. 현재 규모에는 큰 기술일 수 있어 이후 부하 테스트로 사용 근거를 확인할 계획입니다. PostgreSQL은 최종 결과를 SQL로 조회하고 중복 없이 저장하기 위해 선택했습니다. Airflow는 경제지표와 과거 데이터 배치에 사용할 예정입니다.</a:t>
            </a:r>
          </a:p>
          <a:p xmlns:a="http://schemas.openxmlformats.org/drawingml/2006/main">
            <a:r>
              <a:t/>
            </a:r>
          </a:p>
          <a:p xmlns:a="http://schemas.openxmlformats.org/drawingml/2006/main">
            <a:r>
              <a:t>[Sources]</a:t>
            </a:r>
          </a:p>
          <a:p xmlns:a="http://schemas.openxmlformats.org/drawingml/2006/main">
            <a:r>
              <a:t>- /Users/hanjeonghyun/dev/2026/for_my_stock/docs/design-decisions.md</a:t>
            </a:r>
          </a:p>
          <a:p xmlns:a="http://schemas.openxmlformats.org/drawingml/2006/main">
            <a:r>
              <a:t>- /Users/hanjeonghyun/dev/2026/for_my_stock/docs/architecture.md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API에서 SMH 실제 거래 427건을 가져와 Kafka에 모두 발행했습니다. 실행 종료 전에 watermark를 통과한 거래 174건이 PostgreSQL의 확정 1분봉 3건에 반영됐고 중복 키는 0건이었습니다. 나머지 거래는 종료 시점에 아직 watermark를 통과하지 않아 final row로 저장되지 않았습니다. WebSocket 실제 거래 10건은 Kafka까지 확인했고 PostgreSQL까지의 실시간 전체 경로는 아직 검증 전입니다.</a:t>
            </a:r>
          </a:p>
          <a:p xmlns:a="http://schemas.openxmlformats.org/drawingml/2006/main">
            <a:r>
              <a:t/>
            </a:r>
          </a:p>
          <a:p xmlns:a="http://schemas.openxmlformats.org/drawingml/2006/main">
            <a:r>
              <a:t>[Sources]</a:t>
            </a:r>
          </a:p>
          <a:p xmlns:a="http://schemas.openxmlformats.org/drawingml/2006/main">
            <a:r>
              <a:t>- /Users/hanjeonghyun/dev/2026/for_my_stock/docs/evidence/actual-ingestion/result.json</a:t>
            </a:r>
          </a:p>
          <a:p xmlns:a="http://schemas.openxmlformats.org/drawingml/2006/main">
            <a:r>
              <a:t>- /Users/hanjeonghyun/dev/2026/for_my_stock/docs/test-results/2026-08-20-actual-ingestion.md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자동 테스트 45개와 Kafka·Spark 통합 테스트 2개를 통과했습니다. 늦게 도착한 데이터와 중복 데이터 처리, Spark 재시작, PostgreSQL 장애 후 재처리도 확인했습니다. API 키와 실제 원본 데이터는 GitHub에 올리지 않았습니다.</a:t>
            </a:r>
          </a:p>
          <a:p xmlns:a="http://schemas.openxmlformats.org/drawingml/2006/main">
            <a:r>
              <a:t/>
            </a:r>
          </a:p>
          <a:p xmlns:a="http://schemas.openxmlformats.org/drawingml/2006/main">
            <a:r>
              <a:t>[Sources]</a:t>
            </a:r>
          </a:p>
          <a:p xmlns:a="http://schemas.openxmlformats.org/drawingml/2006/main">
            <a:r>
              <a:t>- /Users/hanjeonghyun/dev/2026/for_my_stock/docs/evidence/presentation-captures/05_automated_tests.png</a:t>
            </a:r>
          </a:p>
          <a:p xmlns:a="http://schemas.openxmlformats.org/drawingml/2006/main">
            <a:r>
              <a:t>- /Users/hanjeonghyun/dev/2026/for_my_stock/docs/evidence/presentation-captures/06_database_recovery.png</a:t>
            </a:r>
          </a:p>
          <a:p xmlns:a="http://schemas.openxmlformats.org/drawingml/2006/main">
            <a:r>
              <a:t>- /Users/hanjeonghyun/dev/2026/for_my_stock/docs/evidence/postgres-market-bars/result.json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과제에서는 전체 아키텍처를 그리고 실제 데이터를 수집해 PostgreSQL에 저장하는 단계까지 완료했습니다. 다음에는 정규장에 WebSocket부터 PostgreSQL까지 전체 경로를 검증하겠습니다. 이후 공식 경제지표를 추가해 발표 전후 5분, 30분, 60분 동안 가격과 거래량, 변동성이 어떻게 달라졌는지 비교할 계획입니다. 멘토님께는 현재 검증 규모의 Spark 사용 근거와 Kafka의 24시간 보관 정책이 적절한지 피드백을 받고 싶습니다.</a:t>
            </a:r>
          </a:p>
          <a:p xmlns:a="http://schemas.openxmlformats.org/drawingml/2006/main">
            <a:r>
              <a:t/>
            </a:r>
          </a:p>
          <a:p xmlns:a="http://schemas.openxmlformats.org/drawingml/2006/main">
            <a:r>
              <a:t>[Sources]</a:t>
            </a:r>
          </a:p>
          <a:p xmlns:a="http://schemas.openxmlformats.org/drawingml/2006/main">
            <a:r>
              <a:t>- /Users/hanjeonghyun/dev/2026/for_my_stock/README.md</a:t>
            </a:r>
          </a:p>
          <a:p xmlns:a="http://schemas.openxmlformats.org/drawingml/2006/main">
            <a:r>
              <a:t>- /Users/hanjeonghyun/dev/2026/for_my_stock/docs/final-vision.md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b148277b09e42b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e35695131ec405f" /><Relationship Type="http://schemas.openxmlformats.org/officeDocument/2006/relationships/slideLayout" Target="/ppt/slideLayouts/slideLayout1.xml" Id="R2dd27509997c47c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dd27509997c47c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a2526f9fbd14b52" /><Relationship Type="http://schemas.openxmlformats.org/officeDocument/2006/relationships/image" Target="/ppt/media/image.png" Id="R9c28b08b604b4ace" /><Relationship Type="http://schemas.openxmlformats.org/officeDocument/2006/relationships/notesSlide" Target="/ppt/notesSlides/notesSlide1.xml" Id="R9b6ca3c63762414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48cd4e03ec14830" /><Relationship Type="http://schemas.openxmlformats.org/officeDocument/2006/relationships/notesSlide" Target="/ppt/notesSlides/notesSlide2.xml" Id="Rd241563bfe5d486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380cacda804214" /><Relationship Type="http://schemas.openxmlformats.org/officeDocument/2006/relationships/image" Target="/ppt/media/image2.png" Id="Rc0916642b8f04537" /><Relationship Type="http://schemas.openxmlformats.org/officeDocument/2006/relationships/notesSlide" Target="/ppt/notesSlides/notesSlide3.xml" Id="R940e9ce47f66419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9ade4e6425c43bc" /><Relationship Type="http://schemas.openxmlformats.org/officeDocument/2006/relationships/notesSlide" Target="/ppt/notesSlides/notesSlide4.xml" Id="Re4e5796d06ad4ce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bad987adf034d3c" /><Relationship Type="http://schemas.openxmlformats.org/officeDocument/2006/relationships/notesSlide" Target="/ppt/notesSlides/notesSlide5.xml" Id="R262cb17f481f40f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3ed43bb33b14325" /><Relationship Type="http://schemas.openxmlformats.org/officeDocument/2006/relationships/image" Target="/ppt/media/image3.png" Id="Ra635db45f9e641b3" /><Relationship Type="http://schemas.openxmlformats.org/officeDocument/2006/relationships/image" Target="/ppt/media/image4.png" Id="Rca651b0febe94822" /><Relationship Type="http://schemas.openxmlformats.org/officeDocument/2006/relationships/notesSlide" Target="/ppt/notesSlides/notesSlide6.xml" Id="R92731f4da10541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8a978278a2c48f2" /><Relationship Type="http://schemas.openxmlformats.org/officeDocument/2006/relationships/notesSlide" Target="/ppt/notesSlides/notesSlide7.xml" Id="Rfa4cec751ac3401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D7C98B-16B2-40E3-BD6D-DEE211C47725}"/>
              </a:ext>
            </a:extLst>
          </p:cNvPr>
          <p:cNvSpPr>
            <a:spLocks xmlns:a="http://schemas.openxmlformats.org/drawingml/2006/main" noGrp="1"/>
          </p:cNvSpPr>
          <p:nvPr/>
        </p:nvSpPr>
        <p:spPr>
          <a:xfrm xmlns:a="http://schemas.openxmlformats.org/drawingml/2006/main">
            <a:off x="533400" y="4381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1570EF"/>
                </a:solidFill>
                <a:latin typeface="Apple SD Gothic Neo"/>
                <a:ea typeface="Apple SD Gothic Neo"/>
                <a:cs typeface="Apple SD Gothic Neo"/>
              </a:defRPr>
            </a:pPr>
            <a:r>
              <a:rPr sz="1200" b="1">
                <a:solidFill>
                  <a:srgbClr val="1570EF"/>
                </a:solidFill>
                <a:latin typeface="Apple SD Gothic Neo"/>
                <a:ea typeface="Apple SD Gothic Neo"/>
                <a:cs typeface="Apple SD Gothic Neo"/>
              </a:rPr>
              <a:t>2차시 과제 · 데이터 구조 설계</a:t>
            </a:r>
          </a:p>
        </p:txBody>
      </p:sp>
      <p:sp>
        <p:nvSpPr>
          <p:cNvPr id="2" name="cover-title">
            <a:extLst xmlns:a="http://schemas.openxmlformats.org/drawingml/2006/main">
              <a:ext uri="{FF2B5EF4-FFF2-40B4-BE49-F238E27FC236}">
                <a16:creationId xmlns:a16="http://schemas.microsoft.com/office/drawing/2014/main" id="{89C178F0-DC57-461A-A686-4E300C58A818}"/>
              </a:ext>
            </a:extLst>
          </p:cNvPr>
          <p:cNvSpPr>
            <a:spLocks xmlns:a="http://schemas.openxmlformats.org/drawingml/2006/main" noGrp="1"/>
          </p:cNvSpPr>
          <p:nvPr/>
        </p:nvSpPr>
        <p:spPr>
          <a:xfrm xmlns:a="http://schemas.openxmlformats.org/drawingml/2006/main">
            <a:off x="533400" y="1162050"/>
            <a:ext cx="4762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3825" b="1">
                <a:solidFill>
                  <a:srgbClr val="101828"/>
                </a:solidFill>
                <a:latin typeface="Apple SD Gothic Neo"/>
                <a:ea typeface="Apple SD Gothic Neo"/>
                <a:cs typeface="Apple SD Gothic Neo"/>
              </a:defRPr>
            </a:pPr>
            <a:r>
              <a:rPr sz="3825" b="1">
                <a:solidFill>
                  <a:srgbClr val="101828"/>
                </a:solidFill>
                <a:latin typeface="Apple SD Gothic Neo"/>
                <a:ea typeface="Apple SD Gothic Neo"/>
                <a:cs typeface="Apple SD Gothic Neo"/>
              </a:rPr>
              <a:t>실제 미국 주식 거래를</a:t>
            </a:r>
          </a:p>
          <a:p xmlns:a="http://schemas.openxmlformats.org/drawingml/2006/main">
            <a:pPr algn="l">
              <a:buNone/>
              <a:defRPr sz="3825" b="1">
                <a:solidFill>
                  <a:srgbClr val="101828"/>
                </a:solidFill>
                <a:latin typeface="Apple SD Gothic Neo"/>
                <a:ea typeface="Apple SD Gothic Neo"/>
                <a:cs typeface="Apple SD Gothic Neo"/>
              </a:defRPr>
            </a:pPr>
            <a:r>
              <a:rPr sz="3825" b="1">
                <a:solidFill>
                  <a:srgbClr val="101828"/>
                </a:solidFill>
                <a:latin typeface="Apple SD Gothic Neo"/>
                <a:ea typeface="Apple SD Gothic Neo"/>
                <a:cs typeface="Apple SD Gothic Neo"/>
              </a:rPr>
              <a:t>1분봉으로 저장했습니다</a:t>
            </a:r>
          </a:p>
        </p:txBody>
      </p:sp>
      <p:sp>
        <p:nvSpPr>
          <p:cNvPr id="3" name="">
            <a:extLst xmlns:a="http://schemas.openxmlformats.org/drawingml/2006/main">
              <a:ext uri="{FF2B5EF4-FFF2-40B4-BE49-F238E27FC236}">
                <a16:creationId xmlns:a16="http://schemas.microsoft.com/office/drawing/2014/main" id="{29C9C91A-D567-4404-B300-DB5CF72F4FB9}"/>
              </a:ext>
            </a:extLst>
          </p:cNvPr>
          <p:cNvSpPr>
            <a:spLocks xmlns:a="http://schemas.openxmlformats.org/drawingml/2006/main" noGrp="1"/>
          </p:cNvSpPr>
          <p:nvPr/>
        </p:nvSpPr>
        <p:spPr>
          <a:xfrm xmlns:a="http://schemas.openxmlformats.org/drawingml/2006/main">
            <a:off x="533400" y="3181350"/>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U.S. Macro Impact &amp; Market Data Pipeline</a:t>
            </a:r>
          </a:p>
        </p:txBody>
      </p:sp>
      <p:sp>
        <p:nvSpPr>
          <p:cNvPr id="4" name="">
            <a:extLst xmlns:a="http://schemas.openxmlformats.org/drawingml/2006/main">
              <a:ext uri="{FF2B5EF4-FFF2-40B4-BE49-F238E27FC236}">
                <a16:creationId xmlns:a16="http://schemas.microsoft.com/office/drawing/2014/main" id="{CA237F0A-306C-4CAE-B37E-0CF5FA67968B}"/>
              </a:ext>
            </a:extLst>
          </p:cNvPr>
          <p:cNvSpPr>
            <a:spLocks xmlns:a="http://schemas.openxmlformats.org/drawingml/2006/main" noGrp="1"/>
          </p:cNvSpPr>
          <p:nvPr/>
        </p:nvSpPr>
        <p:spPr>
          <a:xfrm xmlns:a="http://schemas.openxmlformats.org/drawingml/2006/main">
            <a:off x="533400" y="3724275"/>
            <a:ext cx="4857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667085"/>
                </a:solidFill>
                <a:latin typeface="Apple SD Gothic Neo"/>
                <a:ea typeface="Apple SD Gothic Neo"/>
                <a:cs typeface="Apple SD Gothic Neo"/>
              </a:defRPr>
            </a:pPr>
            <a:r>
              <a:rPr sz="1575" b="0">
                <a:solidFill>
                  <a:srgbClr val="667085"/>
                </a:solidFill>
                <a:latin typeface="Apple SD Gothic Neo"/>
                <a:ea typeface="Apple SD Gothic Neo"/>
                <a:cs typeface="Apple SD Gothic Neo"/>
              </a:rPr>
              <a:t>최종 목표: 경제지표 발표 전후 시장 반응 검증
이번 범위: 실제 데이터 → Ingestion → Data Storage</a:t>
            </a:r>
          </a:p>
        </p:txBody>
      </p:sp>
      <p:sp>
        <p:nvSpPr>
          <p:cNvPr id="5" name="">
            <a:extLst xmlns:a="http://schemas.openxmlformats.org/drawingml/2006/main">
              <a:ext uri="{FF2B5EF4-FFF2-40B4-BE49-F238E27FC236}">
                <a16:creationId xmlns:a16="http://schemas.microsoft.com/office/drawing/2014/main" id="{F9E6FE64-9909-4FD2-8171-15956A87B112}"/>
              </a:ext>
            </a:extLst>
          </p:cNvPr>
          <p:cNvSpPr>
            <a:spLocks xmlns:a="http://schemas.openxmlformats.org/drawingml/2006/main" noGrp="1"/>
          </p:cNvSpPr>
          <p:nvPr/>
        </p:nvSpPr>
        <p:spPr>
          <a:xfrm xmlns:a="http://schemas.openxmlformats.org/drawingml/2006/main">
            <a:off x="533400" y="5219700"/>
            <a:ext cx="4953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1570EF"/>
                </a:solidFill>
                <a:latin typeface="Apple SD Gothic Neo"/>
                <a:ea typeface="Apple SD Gothic Neo"/>
                <a:cs typeface="Apple SD Gothic Neo"/>
              </a:defRPr>
            </a:pPr>
            <a:r>
              <a:rPr sz="1350" b="1">
                <a:solidFill>
                  <a:srgbClr val="1570EF"/>
                </a:solidFill>
                <a:latin typeface="Apple SD Gothic Neo"/>
                <a:ea typeface="Apple SD Gothic Neo"/>
                <a:cs typeface="Apple SD Gothic Neo"/>
              </a:rPr>
              <a:t>Alpaca · Kafka · Spark Structured Streaming · PostgreSQL</a:t>
            </a:r>
          </a:p>
        </p:txBody>
      </p:sp>
      <p:sp>
        <p:nvSpPr>
          <p:cNvPr id="6" name="">
            <a:extLst xmlns:a="http://schemas.openxmlformats.org/drawingml/2006/main">
              <a:ext uri="{FF2B5EF4-FFF2-40B4-BE49-F238E27FC236}">
                <a16:creationId xmlns:a16="http://schemas.microsoft.com/office/drawing/2014/main" id="{F0D10E54-B3DF-486E-AE2E-5E48F5F0DC45}"/>
              </a:ext>
            </a:extLst>
          </p:cNvPr>
          <p:cNvSpPr>
            <a:spLocks xmlns:a="http://schemas.openxmlformats.org/drawingml/2006/main" noGrp="1"/>
          </p:cNvSpPr>
          <p:nvPr/>
        </p:nvSpPr>
        <p:spPr>
          <a:xfrm xmlns:a="http://schemas.openxmlformats.org/drawingml/2006/main">
            <a:off x="5943600" y="457200"/>
            <a:ext cx="5715000" cy="5581650"/>
          </a:xfrm>
          <a:prstGeom xmlns:a="http://schemas.openxmlformats.org/drawingml/2006/main" prst="rect">
            <a:avLst/>
          </a:prstGeom>
          <a:solidFill xmlns:a="http://schemas.openxmlformats.org/drawingml/2006/main">
            <a:srgbClr val="F2F4F7"/>
          </a:solidFill>
          <a:ln xmlns:a="http://schemas.openxmlformats.org/drawingml/2006/main" w="9525">
            <a:solidFill>
              <a:srgbClr val="D0D5DD"/>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c28b08b604b4ace"/>
          <a:stretch xmlns:a="http://schemas.openxmlformats.org/drawingml/2006/main"/>
        </p:blipFill>
        <p:spPr>
          <a:xfrm xmlns:a="http://schemas.openxmlformats.org/drawingml/2006/main">
            <a:off x="6076950" y="1296591"/>
            <a:ext cx="5448300" cy="3064669"/>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4B8B95B-8DFB-4369-A20D-850DB25752C8}"/>
              </a:ext>
            </a:extLst>
          </p:cNvPr>
          <p:cNvSpPr>
            <a:spLocks xmlns:a="http://schemas.openxmlformats.org/drawingml/2006/main" noGrp="1"/>
          </p:cNvSpPr>
          <p:nvPr/>
        </p:nvSpPr>
        <p:spPr>
          <a:xfrm xmlns:a="http://schemas.openxmlformats.org/drawingml/2006/main">
            <a:off x="6210300" y="7239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406"/>
          </a:bodyPr>
          <a:lstStyle xmlns:a="http://schemas.openxmlformats.org/drawingml/2006/main"/>
          <a:p xmlns:a="http://schemas.openxmlformats.org/drawingml/2006/main">
            <a:pPr algn="l">
              <a:buNone/>
              <a:defRPr sz="1725" b="1">
                <a:solidFill>
                  <a:srgbClr val="1570EF"/>
                </a:solidFill>
                <a:latin typeface="Apple SD Gothic Neo"/>
                <a:ea typeface="Apple SD Gothic Neo"/>
                <a:cs typeface="Apple SD Gothic Neo"/>
              </a:defRPr>
            </a:pPr>
            <a:r>
              <a:rPr sz="1725" b="1">
                <a:solidFill>
                  <a:srgbClr val="1570EF"/>
                </a:solidFill>
                <a:latin typeface="Apple SD Gothic Neo"/>
                <a:ea typeface="Apple SD Gothic Neo"/>
                <a:cs typeface="Apple SD Gothic Neo"/>
              </a:rPr>
              <a:t>실행 증거</a:t>
            </a:r>
          </a:p>
        </p:txBody>
      </p:sp>
      <p:sp>
        <p:nvSpPr>
          <p:cNvPr id="9" name="">
            <a:extLst xmlns:a="http://schemas.openxmlformats.org/drawingml/2006/main">
              <a:ext uri="{FF2B5EF4-FFF2-40B4-BE49-F238E27FC236}">
                <a16:creationId xmlns:a16="http://schemas.microsoft.com/office/drawing/2014/main" id="{DF7B22CE-164C-4FB7-941E-33FD6B32FE44}"/>
              </a:ext>
            </a:extLst>
          </p:cNvPr>
          <p:cNvSpPr>
            <a:spLocks xmlns:a="http://schemas.openxmlformats.org/drawingml/2006/main" noGrp="1"/>
          </p:cNvSpPr>
          <p:nvPr/>
        </p:nvSpPr>
        <p:spPr>
          <a:xfrm xmlns:a="http://schemas.openxmlformats.org/drawingml/2006/main">
            <a:off x="6210300" y="4686300"/>
            <a:ext cx="5048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101828"/>
                </a:solidFill>
                <a:latin typeface="Apple SD Gothic Neo"/>
                <a:ea typeface="Apple SD Gothic Neo"/>
                <a:cs typeface="Apple SD Gothic Neo"/>
              </a:defRPr>
            </a:pPr>
            <a:r>
              <a:rPr sz="1425" b="0">
                <a:solidFill>
                  <a:srgbClr val="101828"/>
                </a:solidFill>
                <a:latin typeface="Apple SD Gothic Neo"/>
                <a:ea typeface="Apple SD Gothic Neo"/>
                <a:cs typeface="Apple SD Gothic Neo"/>
              </a:rPr>
              <a:t>Kafka raw storage와 PostgreSQL processed storage가 모두 healthy이며, 원본 토픽 오프셋도 확인했습니다.</a:t>
            </a:r>
          </a:p>
        </p:txBody>
      </p:sp>
      <p:sp>
        <p:nvSpPr>
          <p:cNvPr id="10" name="">
            <a:extLst xmlns:a="http://schemas.openxmlformats.org/drawingml/2006/main">
              <a:ext uri="{FF2B5EF4-FFF2-40B4-BE49-F238E27FC236}">
                <a16:creationId xmlns:a16="http://schemas.microsoft.com/office/drawing/2014/main" id="{ACA709D5-AEB1-40AA-97EB-B42AAF3A5C05}"/>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01</a:t>
            </a:r>
          </a:p>
        </p:txBody>
      </p:sp>
    </p:spTree>
    <p:extLst>
      <p:ext uri="{BB962C8B-B14F-4D97-AF65-F5344CB8AC3E}">
        <p14:creationId xmlns:p14="http://schemas.microsoft.com/office/powerpoint/2010/main" val="7845040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2">
            <a:extLst xmlns:a="http://schemas.openxmlformats.org/drawingml/2006/main">
              <a:ext uri="{FF2B5EF4-FFF2-40B4-BE49-F238E27FC236}">
                <a16:creationId xmlns:a16="http://schemas.microsoft.com/office/drawing/2014/main" id="{4CC2D71C-2C37-4AF4-AC80-E699ADAF771C}"/>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DATASET</a:t>
            </a:r>
          </a:p>
        </p:txBody>
      </p:sp>
      <p:sp>
        <p:nvSpPr>
          <p:cNvPr id="2" name="title-2">
            <a:extLst xmlns:a="http://schemas.openxmlformats.org/drawingml/2006/main">
              <a:ext uri="{FF2B5EF4-FFF2-40B4-BE49-F238E27FC236}">
                <a16:creationId xmlns:a16="http://schemas.microsoft.com/office/drawing/2014/main" id="{9FC9209F-2C5B-47A4-8A75-55F6D4D7F2D6}"/>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같은 실제 거래를 실시간과 재현 가능한 방식으로 수집합니다</a:t>
            </a:r>
          </a:p>
        </p:txBody>
      </p:sp>
      <p:sp>
        <p:nvSpPr>
          <p:cNvPr id="3" name="">
            <a:extLst xmlns:a="http://schemas.openxmlformats.org/drawingml/2006/main">
              <a:ext uri="{FF2B5EF4-FFF2-40B4-BE49-F238E27FC236}">
                <a16:creationId xmlns:a16="http://schemas.microsoft.com/office/drawing/2014/main" id="{D8F5A955-0F33-47DC-928B-1A5BD399D644}"/>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407A6850-B95A-46BC-BAB2-1C0762173A19}"/>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02</a:t>
            </a:r>
          </a:p>
        </p:txBody>
      </p:sp>
      <p:sp>
        <p:nvSpPr>
          <p:cNvPr id="5" name="">
            <a:extLst xmlns:a="http://schemas.openxmlformats.org/drawingml/2006/main">
              <a:ext uri="{FF2B5EF4-FFF2-40B4-BE49-F238E27FC236}">
                <a16:creationId xmlns:a16="http://schemas.microsoft.com/office/drawing/2014/main" id="{FB927F57-EA7B-45E3-AB62-781C14B6EE08}"/>
              </a:ext>
            </a:extLst>
          </p:cNvPr>
          <p:cNvSpPr>
            <a:spLocks xmlns:a="http://schemas.openxmlformats.org/drawingml/2006/main" noGrp="1"/>
          </p:cNvSpPr>
          <p:nvPr/>
        </p:nvSpPr>
        <p:spPr>
          <a:xfrm xmlns:a="http://schemas.openxmlformats.org/drawingml/2006/main">
            <a:off x="647700" y="1952625"/>
            <a:ext cx="485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570EF"/>
                </a:solidFill>
                <a:latin typeface="Apple SD Gothic Neo"/>
                <a:ea typeface="Apple SD Gothic Neo"/>
                <a:cs typeface="Apple SD Gothic Neo"/>
              </a:defRPr>
            </a:pPr>
            <a:r>
              <a:rPr sz="2100" b="1">
                <a:solidFill>
                  <a:srgbClr val="1570EF"/>
                </a:solidFill>
                <a:latin typeface="Apple SD Gothic Neo"/>
                <a:ea typeface="Apple SD Gothic Neo"/>
                <a:cs typeface="Apple SD Gothic Neo"/>
              </a:rPr>
              <a:t>실시간 수집</a:t>
            </a:r>
          </a:p>
        </p:txBody>
      </p:sp>
      <p:sp>
        <p:nvSpPr>
          <p:cNvPr id="6" name="">
            <a:extLst xmlns:a="http://schemas.openxmlformats.org/drawingml/2006/main">
              <a:ext uri="{FF2B5EF4-FFF2-40B4-BE49-F238E27FC236}">
                <a16:creationId xmlns:a16="http://schemas.microsoft.com/office/drawing/2014/main" id="{421550E1-D482-4391-9A6F-EE428A1C2F18}"/>
              </a:ext>
            </a:extLst>
          </p:cNvPr>
          <p:cNvSpPr>
            <a:spLocks xmlns:a="http://schemas.openxmlformats.org/drawingml/2006/main" noGrp="1"/>
          </p:cNvSpPr>
          <p:nvPr/>
        </p:nvSpPr>
        <p:spPr>
          <a:xfrm xmlns:a="http://schemas.openxmlformats.org/drawingml/2006/main">
            <a:off x="647700" y="2543175"/>
            <a:ext cx="481012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Alpaca IEX WebSocket</a:t>
            </a:r>
          </a:p>
          <a:p xmlns:a="http://schemas.openxmlformats.org/drawingml/2006/main">
            <a:r>
              <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검증 종목: SPY · QQQ · NVDA</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종목, 거래 ID, 거래소, 가격, 수량, 조건, 거래 시각</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실제 trade 10건을 Kafka 발행·재소비</a:t>
            </a:r>
          </a:p>
        </p:txBody>
      </p:sp>
      <p:sp>
        <p:nvSpPr>
          <p:cNvPr id="7" name="">
            <a:extLst xmlns:a="http://schemas.openxmlformats.org/drawingml/2006/main">
              <a:ext uri="{FF2B5EF4-FFF2-40B4-BE49-F238E27FC236}">
                <a16:creationId xmlns:a16="http://schemas.microsoft.com/office/drawing/2014/main" id="{28FA49EA-D160-45CA-BF31-F57F56239D40}"/>
              </a:ext>
            </a:extLst>
          </p:cNvPr>
          <p:cNvSpPr>
            <a:spLocks xmlns:a="http://schemas.openxmlformats.org/drawingml/2006/main" noGrp="1"/>
          </p:cNvSpPr>
          <p:nvPr/>
        </p:nvSpPr>
        <p:spPr>
          <a:xfrm xmlns:a="http://schemas.openxmlformats.org/drawingml/2006/main">
            <a:off x="6324600" y="1952625"/>
            <a:ext cx="485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67647"/>
                </a:solidFill>
                <a:latin typeface="Apple SD Gothic Neo"/>
                <a:ea typeface="Apple SD Gothic Neo"/>
                <a:cs typeface="Apple SD Gothic Neo"/>
              </a:defRPr>
            </a:pPr>
            <a:r>
              <a:rPr sz="2100" b="1">
                <a:solidFill>
                  <a:srgbClr val="067647"/>
                </a:solidFill>
                <a:latin typeface="Apple SD Gothic Neo"/>
                <a:ea typeface="Apple SD Gothic Neo"/>
                <a:cs typeface="Apple SD Gothic Neo"/>
              </a:rPr>
              <a:t>재현 가능한 수집</a:t>
            </a:r>
          </a:p>
        </p:txBody>
      </p:sp>
      <p:sp>
        <p:nvSpPr>
          <p:cNvPr id="8" name="">
            <a:extLst xmlns:a="http://schemas.openxmlformats.org/drawingml/2006/main">
              <a:ext uri="{FF2B5EF4-FFF2-40B4-BE49-F238E27FC236}">
                <a16:creationId xmlns:a16="http://schemas.microsoft.com/office/drawing/2014/main" id="{420796CA-A9C8-4FC1-9607-C9396AE81295}"/>
              </a:ext>
            </a:extLst>
          </p:cNvPr>
          <p:cNvSpPr>
            <a:spLocks xmlns:a="http://schemas.openxmlformats.org/drawingml/2006/main" noGrp="1"/>
          </p:cNvSpPr>
          <p:nvPr/>
        </p:nvSpPr>
        <p:spPr>
          <a:xfrm xmlns:a="http://schemas.openxmlformats.org/drawingml/2006/main">
            <a:off x="6324600" y="2543175"/>
            <a:ext cx="481012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Alpaca Historical Trades REST</a:t>
            </a:r>
          </a:p>
          <a:p xmlns:a="http://schemas.openxmlformats.org/drawingml/2006/main">
            <a:r>
              <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검증 종목: SMH</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2026-08-19 19:50Z~19:56Z 실제 IEX 거래</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고정 fixture는 중복·지연·오류 자동 테스트에만 사용</a:t>
            </a:r>
          </a:p>
        </p:txBody>
      </p:sp>
      <p:sp>
        <p:nvSpPr>
          <p:cNvPr id="9" name="">
            <a:extLst xmlns:a="http://schemas.openxmlformats.org/drawingml/2006/main">
              <a:ext uri="{FF2B5EF4-FFF2-40B4-BE49-F238E27FC236}">
                <a16:creationId xmlns:a16="http://schemas.microsoft.com/office/drawing/2014/main" id="{8820955C-4CDD-42C1-A95E-3B09224D2B1E}"/>
              </a:ext>
            </a:extLst>
          </p:cNvPr>
          <p:cNvSpPr>
            <a:spLocks xmlns:a="http://schemas.openxmlformats.org/drawingml/2006/main" noGrp="1"/>
          </p:cNvSpPr>
          <p:nvPr/>
        </p:nvSpPr>
        <p:spPr>
          <a:xfrm xmlns:a="http://schemas.openxmlformats.org/drawingml/2006/main">
            <a:off x="647700" y="5819775"/>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F56D9"/>
                </a:solidFill>
                <a:latin typeface="Apple SD Gothic Neo"/>
                <a:ea typeface="Apple SD Gothic Neo"/>
                <a:cs typeface="Apple SD Gothic Neo"/>
              </a:defRPr>
            </a:pPr>
            <a:r>
              <a:rPr sz="1350" b="1">
                <a:solidFill>
                  <a:srgbClr val="7F56D9"/>
                </a:solidFill>
                <a:latin typeface="Apple SD Gothic Neo"/>
                <a:ea typeface="Apple SD Gothic Neo"/>
                <a:cs typeface="Apple SD Gothic Neo"/>
              </a:rPr>
              <a:t>무료 IEX는 미국 전체 거래소가 아니므로 결과를 전체 시장으로 확대 해석하지 않습니다.</a:t>
            </a:r>
          </a:p>
        </p:txBody>
      </p:sp>
    </p:spTree>
    <p:extLst>
      <p:ext uri="{BB962C8B-B14F-4D97-AF65-F5344CB8AC3E}">
        <p14:creationId xmlns:p14="http://schemas.microsoft.com/office/powerpoint/2010/main" val="2978971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0916642b8f04537"/>
          <a:stretch xmlns:a="http://schemas.openxmlformats.org/drawingml/2006/main"/>
        </p:blipFill>
        <p:spPr>
          <a:xfrm xmlns:a="http://schemas.openxmlformats.org/drawingml/2006/main" flipH="0" flipV="0">
            <a:off x="449179" y="76200"/>
            <a:ext cx="11293642" cy="6705600"/>
          </a:xfrm>
          <a:prstGeom xmlns:a="http://schemas.openxmlformats.org/drawingml/2006/main" prst="rect">
            <a:avLst/>
          </a:prstGeom>
        </p:spPr>
      </p:pic>
    </p:spTree>
    <p:extLst>
      <p:ext uri="{BB962C8B-B14F-4D97-AF65-F5344CB8AC3E}">
        <p14:creationId xmlns:p14="http://schemas.microsoft.com/office/powerpoint/2010/main" val="13443133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eyebrow-4">
            <a:extLst xmlns:a="http://schemas.openxmlformats.org/drawingml/2006/main">
              <a:ext uri="{FF2B5EF4-FFF2-40B4-BE49-F238E27FC236}">
                <a16:creationId xmlns:a16="http://schemas.microsoft.com/office/drawing/2014/main" id="{710D3FBF-757E-4E27-BB62-898B9CB2E669}"/>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WHY THIS STACK</a:t>
            </a:r>
          </a:p>
        </p:txBody>
      </p:sp>
      <p:sp>
        <p:nvSpPr>
          <p:cNvPr id="2" name="title-4">
            <a:extLst xmlns:a="http://schemas.openxmlformats.org/drawingml/2006/main">
              <a:ext uri="{FF2B5EF4-FFF2-40B4-BE49-F238E27FC236}">
                <a16:creationId xmlns:a16="http://schemas.microsoft.com/office/drawing/2014/main" id="{AA5FF86B-AB8E-4AB2-84D9-B58DCD6BF12F}"/>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각 기술은 처리 속도보다 책임을 나누기 위해 사용했습니다</a:t>
            </a:r>
          </a:p>
        </p:txBody>
      </p:sp>
      <p:sp>
        <p:nvSpPr>
          <p:cNvPr id="3" name="">
            <a:extLst xmlns:a="http://schemas.openxmlformats.org/drawingml/2006/main">
              <a:ext uri="{FF2B5EF4-FFF2-40B4-BE49-F238E27FC236}">
                <a16:creationId xmlns:a16="http://schemas.microsoft.com/office/drawing/2014/main" id="{00BA3BC2-5101-4308-9995-68A61FA8156A}"/>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D2E7B891-0327-4A64-BB67-481039DCFA4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04</a:t>
            </a:r>
          </a:p>
        </p:txBody>
      </p:sp>
      <p:sp>
        <p:nvSpPr>
          <p:cNvPr id="5" name="">
            <a:extLst xmlns:a="http://schemas.openxmlformats.org/drawingml/2006/main">
              <a:ext uri="{FF2B5EF4-FFF2-40B4-BE49-F238E27FC236}">
                <a16:creationId xmlns:a16="http://schemas.microsoft.com/office/drawing/2014/main" id="{FF46DE00-FA23-4E64-BF6E-9B8E1A9AF1C0}"/>
              </a:ext>
            </a:extLst>
          </p:cNvPr>
          <p:cNvSpPr>
            <a:spLocks xmlns:a="http://schemas.openxmlformats.org/drawingml/2006/main" noGrp="1"/>
          </p:cNvSpPr>
          <p:nvPr/>
        </p:nvSpPr>
        <p:spPr>
          <a:xfrm xmlns:a="http://schemas.openxmlformats.org/drawingml/2006/main">
            <a:off x="533400"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570EF"/>
                </a:solidFill>
                <a:latin typeface="Apple SD Gothic Neo"/>
                <a:ea typeface="Apple SD Gothic Neo"/>
                <a:cs typeface="Apple SD Gothic Neo"/>
              </a:defRPr>
            </a:pPr>
            <a:r>
              <a:rPr sz="2100" b="1">
                <a:solidFill>
                  <a:srgbClr val="1570EF"/>
                </a:solidFill>
                <a:latin typeface="Apple SD Gothic Neo"/>
                <a:ea typeface="Apple SD Gothic Neo"/>
                <a:cs typeface="Apple SD Gothic Neo"/>
              </a:rPr>
              <a:t>Kafka</a:t>
            </a:r>
          </a:p>
        </p:txBody>
      </p:sp>
      <p:sp>
        <p:nvSpPr>
          <p:cNvPr id="6" name="">
            <a:extLst xmlns:a="http://schemas.openxmlformats.org/drawingml/2006/main">
              <a:ext uri="{FF2B5EF4-FFF2-40B4-BE49-F238E27FC236}">
                <a16:creationId xmlns:a16="http://schemas.microsoft.com/office/drawing/2014/main" id="{FF2E36CB-7080-441A-8964-244DF614D9BB}"/>
              </a:ext>
            </a:extLst>
          </p:cNvPr>
          <p:cNvSpPr>
            <a:spLocks xmlns:a="http://schemas.openxmlformats.org/drawingml/2006/main" noGrp="1"/>
          </p:cNvSpPr>
          <p:nvPr/>
        </p:nvSpPr>
        <p:spPr>
          <a:xfrm xmlns:a="http://schemas.openxmlformats.org/drawingml/2006/main">
            <a:off x="533400" y="2847975"/>
            <a:ext cx="3219450" cy="0"/>
          </a:xfrm>
          <a:prstGeom xmlns:a="http://schemas.openxmlformats.org/drawingml/2006/main" prst="line">
            <a:avLst/>
          </a:prstGeom>
          <a:noFill xmlns:a="http://schemas.openxmlformats.org/drawingml/2006/main"/>
          <a:ln xmlns:a="http://schemas.openxmlformats.org/drawingml/2006/main" w="38100">
            <a:solidFill>
              <a:srgbClr val="1570EF"/>
            </a:solidFill>
            <a:prstDash val="solid"/>
          </a:ln>
        </p:spPr>
      </p:sp>
      <p:sp>
        <p:nvSpPr>
          <p:cNvPr id="7" name="">
            <a:extLst xmlns:a="http://schemas.openxmlformats.org/drawingml/2006/main">
              <a:ext uri="{FF2B5EF4-FFF2-40B4-BE49-F238E27FC236}">
                <a16:creationId xmlns:a16="http://schemas.microsoft.com/office/drawing/2014/main" id="{A3A8B033-F8C3-4F59-943F-3722DBDA6C69}"/>
              </a:ext>
            </a:extLst>
          </p:cNvPr>
          <p:cNvSpPr>
            <a:spLocks xmlns:a="http://schemas.openxmlformats.org/drawingml/2006/main" noGrp="1"/>
          </p:cNvSpPr>
          <p:nvPr/>
        </p:nvSpPr>
        <p:spPr>
          <a:xfrm xmlns:a="http://schemas.openxmlformats.org/drawingml/2006/main">
            <a:off x="533400"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원본 거래 이벤트를 24시간 보관합니다.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수집기와 처리기를 분리해 Spark가 잠시 멈춰도 다시 읽을 수 있습니다.</a:t>
            </a:r>
          </a:p>
        </p:txBody>
      </p:sp>
      <p:sp>
        <p:nvSpPr>
          <p:cNvPr id="8" name="">
            <a:extLst xmlns:a="http://schemas.openxmlformats.org/drawingml/2006/main">
              <a:ext uri="{FF2B5EF4-FFF2-40B4-BE49-F238E27FC236}">
                <a16:creationId xmlns:a16="http://schemas.microsoft.com/office/drawing/2014/main" id="{1A760703-7374-4BF8-978D-6A7542E895E7}"/>
              </a:ext>
            </a:extLst>
          </p:cNvPr>
          <p:cNvSpPr>
            <a:spLocks xmlns:a="http://schemas.openxmlformats.org/drawingml/2006/main" noGrp="1"/>
          </p:cNvSpPr>
          <p:nvPr/>
        </p:nvSpPr>
        <p:spPr>
          <a:xfrm xmlns:a="http://schemas.openxmlformats.org/drawingml/2006/main">
            <a:off x="4486275"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7F56D9"/>
                </a:solidFill>
                <a:latin typeface="Apple SD Gothic Neo"/>
                <a:ea typeface="Apple SD Gothic Neo"/>
                <a:cs typeface="Apple SD Gothic Neo"/>
              </a:defRPr>
            </a:pPr>
            <a:r>
              <a:rPr sz="2100" b="1">
                <a:solidFill>
                  <a:srgbClr val="7F56D9"/>
                </a:solidFill>
                <a:latin typeface="Apple SD Gothic Neo"/>
                <a:ea typeface="Apple SD Gothic Neo"/>
                <a:cs typeface="Apple SD Gothic Neo"/>
              </a:rPr>
              <a:t>Spark</a:t>
            </a:r>
          </a:p>
        </p:txBody>
      </p:sp>
      <p:sp>
        <p:nvSpPr>
          <p:cNvPr id="9" name="">
            <a:extLst xmlns:a="http://schemas.openxmlformats.org/drawingml/2006/main">
              <a:ext uri="{FF2B5EF4-FFF2-40B4-BE49-F238E27FC236}">
                <a16:creationId xmlns:a16="http://schemas.microsoft.com/office/drawing/2014/main" id="{42C69C7B-3B55-44C2-9CE9-6EE5F8ACD844}"/>
              </a:ext>
            </a:extLst>
          </p:cNvPr>
          <p:cNvSpPr>
            <a:spLocks xmlns:a="http://schemas.openxmlformats.org/drawingml/2006/main" noGrp="1"/>
          </p:cNvSpPr>
          <p:nvPr/>
        </p:nvSpPr>
        <p:spPr>
          <a:xfrm xmlns:a="http://schemas.openxmlformats.org/drawingml/2006/main">
            <a:off x="4486275" y="2847975"/>
            <a:ext cx="3219450" cy="0"/>
          </a:xfrm>
          <a:prstGeom xmlns:a="http://schemas.openxmlformats.org/drawingml/2006/main" prst="line">
            <a:avLst/>
          </a:prstGeom>
          <a:noFill xmlns:a="http://schemas.openxmlformats.org/drawingml/2006/main"/>
          <a:ln xmlns:a="http://schemas.openxmlformats.org/drawingml/2006/main" w="38100">
            <a:solidFill>
              <a:srgbClr val="7F56D9"/>
            </a:solidFill>
            <a:prstDash val="solid"/>
          </a:ln>
        </p:spPr>
      </p:sp>
      <p:sp>
        <p:nvSpPr>
          <p:cNvPr id="10" name="">
            <a:extLst xmlns:a="http://schemas.openxmlformats.org/drawingml/2006/main">
              <a:ext uri="{FF2B5EF4-FFF2-40B4-BE49-F238E27FC236}">
                <a16:creationId xmlns:a16="http://schemas.microsoft.com/office/drawing/2014/main" id="{7E8EAC11-79A4-4856-86CB-2F3202061C88}"/>
              </a:ext>
            </a:extLst>
          </p:cNvPr>
          <p:cNvSpPr>
            <a:spLocks xmlns:a="http://schemas.openxmlformats.org/drawingml/2006/main" noGrp="1"/>
          </p:cNvSpPr>
          <p:nvPr/>
        </p:nvSpPr>
        <p:spPr>
          <a:xfrm xmlns:a="http://schemas.openxmlformats.org/drawingml/2006/main">
            <a:off x="4486275"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거래 도착 순서가 아니라 실제 거래 시각으로 1분봉을 만듭니다.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중복 제거, watermark, checkpoint를 함께 검증합니다.</a:t>
            </a:r>
          </a:p>
        </p:txBody>
      </p:sp>
      <p:sp>
        <p:nvSpPr>
          <p:cNvPr id="11" name="">
            <a:extLst xmlns:a="http://schemas.openxmlformats.org/drawingml/2006/main">
              <a:ext uri="{FF2B5EF4-FFF2-40B4-BE49-F238E27FC236}">
                <a16:creationId xmlns:a16="http://schemas.microsoft.com/office/drawing/2014/main" id="{5F3206A0-06E1-4E5A-B345-A9DF28500D1E}"/>
              </a:ext>
            </a:extLst>
          </p:cNvPr>
          <p:cNvSpPr>
            <a:spLocks xmlns:a="http://schemas.openxmlformats.org/drawingml/2006/main" noGrp="1"/>
          </p:cNvSpPr>
          <p:nvPr/>
        </p:nvSpPr>
        <p:spPr>
          <a:xfrm xmlns:a="http://schemas.openxmlformats.org/drawingml/2006/main">
            <a:off x="8439150"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67647"/>
                </a:solidFill>
                <a:latin typeface="Apple SD Gothic Neo"/>
                <a:ea typeface="Apple SD Gothic Neo"/>
                <a:cs typeface="Apple SD Gothic Neo"/>
              </a:defRPr>
            </a:pPr>
            <a:r>
              <a:rPr sz="2100" b="1">
                <a:solidFill>
                  <a:srgbClr val="067647"/>
                </a:solidFill>
                <a:latin typeface="Apple SD Gothic Neo"/>
                <a:ea typeface="Apple SD Gothic Neo"/>
                <a:cs typeface="Apple SD Gothic Neo"/>
              </a:rPr>
              <a:t>PostgreSQL</a:t>
            </a:r>
          </a:p>
        </p:txBody>
      </p:sp>
      <p:sp>
        <p:nvSpPr>
          <p:cNvPr id="12" name="">
            <a:extLst xmlns:a="http://schemas.openxmlformats.org/drawingml/2006/main">
              <a:ext uri="{FF2B5EF4-FFF2-40B4-BE49-F238E27FC236}">
                <a16:creationId xmlns:a16="http://schemas.microsoft.com/office/drawing/2014/main" id="{A618A580-C125-4583-9ACD-ED2B5EACA23A}"/>
              </a:ext>
            </a:extLst>
          </p:cNvPr>
          <p:cNvSpPr>
            <a:spLocks xmlns:a="http://schemas.openxmlformats.org/drawingml/2006/main" noGrp="1"/>
          </p:cNvSpPr>
          <p:nvPr/>
        </p:nvSpPr>
        <p:spPr>
          <a:xfrm xmlns:a="http://schemas.openxmlformats.org/drawingml/2006/main">
            <a:off x="8439150" y="2847975"/>
            <a:ext cx="3219450" cy="0"/>
          </a:xfrm>
          <a:prstGeom xmlns:a="http://schemas.openxmlformats.org/drawingml/2006/main" prst="line">
            <a:avLst/>
          </a:prstGeom>
          <a:noFill xmlns:a="http://schemas.openxmlformats.org/drawingml/2006/main"/>
          <a:ln xmlns:a="http://schemas.openxmlformats.org/drawingml/2006/main" w="38100">
            <a:solidFill>
              <a:srgbClr val="067647"/>
            </a:solidFill>
            <a:prstDash val="solid"/>
          </a:ln>
        </p:spPr>
      </p:sp>
      <p:sp>
        <p:nvSpPr>
          <p:cNvPr id="13" name="">
            <a:extLst xmlns:a="http://schemas.openxmlformats.org/drawingml/2006/main">
              <a:ext uri="{FF2B5EF4-FFF2-40B4-BE49-F238E27FC236}">
                <a16:creationId xmlns:a16="http://schemas.microsoft.com/office/drawing/2014/main" id="{200F272A-5B5A-4093-B337-EFD1A73EF19F}"/>
              </a:ext>
            </a:extLst>
          </p:cNvPr>
          <p:cNvSpPr>
            <a:spLocks xmlns:a="http://schemas.openxmlformats.org/drawingml/2006/main" noGrp="1"/>
          </p:cNvSpPr>
          <p:nvPr/>
        </p:nvSpPr>
        <p:spPr>
          <a:xfrm xmlns:a="http://schemas.openxmlformats.org/drawingml/2006/main">
            <a:off x="8439150"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확정된 1분봉을 SQL로 조회합니다.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business key와 upsert로 재처리 때 중복 저장을 막습니다.</a:t>
            </a:r>
          </a:p>
        </p:txBody>
      </p:sp>
      <p:sp>
        <p:nvSpPr>
          <p:cNvPr id="14" name="">
            <a:extLst xmlns:a="http://schemas.openxmlformats.org/drawingml/2006/main">
              <a:ext uri="{FF2B5EF4-FFF2-40B4-BE49-F238E27FC236}">
                <a16:creationId xmlns:a16="http://schemas.microsoft.com/office/drawing/2014/main" id="{452A0EC3-AA02-4A20-8086-B5A31CDF09F4}"/>
              </a:ext>
            </a:extLst>
          </p:cNvPr>
          <p:cNvSpPr>
            <a:spLocks xmlns:a="http://schemas.openxmlformats.org/drawingml/2006/main" noGrp="1"/>
          </p:cNvSpPr>
          <p:nvPr/>
        </p:nvSpPr>
        <p:spPr>
          <a:xfrm xmlns:a="http://schemas.openxmlformats.org/drawingml/2006/main">
            <a:off x="533400" y="5905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Apple SD Gothic Neo"/>
                <a:ea typeface="Apple SD Gothic Neo"/>
                <a:cs typeface="Apple SD Gothic Neo"/>
              </a:defRPr>
            </a:pPr>
            <a:r>
              <a:rPr sz="1425" b="0">
                <a:solidFill>
                  <a:srgbClr val="667085"/>
                </a:solidFill>
                <a:latin typeface="Apple SD Gothic Neo"/>
                <a:ea typeface="Apple SD Gothic Neo"/>
                <a:cs typeface="Apple SD Gothic Neo"/>
              </a:rPr>
              <a:t>Spark는 부하 테스트로 사용 근거를 검증하고, Airflow는 경제지표·과거 데이터 배치에 사용할 예정입니다.</a:t>
            </a:r>
          </a:p>
        </p:txBody>
      </p:sp>
    </p:spTree>
    <p:extLst>
      <p:ext uri="{BB962C8B-B14F-4D97-AF65-F5344CB8AC3E}">
        <p14:creationId xmlns:p14="http://schemas.microsoft.com/office/powerpoint/2010/main" val="117278285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eyebrow-5">
            <a:extLst xmlns:a="http://schemas.openxmlformats.org/drawingml/2006/main">
              <a:ext uri="{FF2B5EF4-FFF2-40B4-BE49-F238E27FC236}">
                <a16:creationId xmlns:a16="http://schemas.microsoft.com/office/drawing/2014/main" id="{427F1F2F-F6F7-4A29-B2BD-8EA88AAB769C}"/>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ACTUAL RESULT</a:t>
            </a:r>
          </a:p>
        </p:txBody>
      </p:sp>
      <p:sp>
        <p:nvSpPr>
          <p:cNvPr id="2" name="title-5">
            <a:extLst xmlns:a="http://schemas.openxmlformats.org/drawingml/2006/main">
              <a:ext uri="{FF2B5EF4-FFF2-40B4-BE49-F238E27FC236}">
                <a16:creationId xmlns:a16="http://schemas.microsoft.com/office/drawing/2014/main" id="{9D57B243-B242-463B-A88C-4807AACAD336}"/>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실제 거래 427건 발행 후, 174건이 확정 봉 3건에 반영됐습니다</a:t>
            </a:r>
          </a:p>
        </p:txBody>
      </p:sp>
      <p:sp>
        <p:nvSpPr>
          <p:cNvPr id="3" name="">
            <a:extLst xmlns:a="http://schemas.openxmlformats.org/drawingml/2006/main">
              <a:ext uri="{FF2B5EF4-FFF2-40B4-BE49-F238E27FC236}">
                <a16:creationId xmlns:a16="http://schemas.microsoft.com/office/drawing/2014/main" id="{D5742A19-0B93-44BD-9B34-0FAD23593CCE}"/>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F202A7A4-4890-4D83-91A8-5BB0D0D3EBD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05</a:t>
            </a:r>
          </a:p>
        </p:txBody>
      </p:sp>
      <p:sp>
        <p:nvSpPr>
          <p:cNvPr id="5" name="">
            <a:extLst xmlns:a="http://schemas.openxmlformats.org/drawingml/2006/main">
              <a:ext uri="{FF2B5EF4-FFF2-40B4-BE49-F238E27FC236}">
                <a16:creationId xmlns:a16="http://schemas.microsoft.com/office/drawing/2014/main" id="{FC397B50-11B8-44A8-9610-C07CD31F4AFA}"/>
              </a:ext>
            </a:extLst>
          </p:cNvPr>
          <p:cNvSpPr>
            <a:spLocks xmlns:a="http://schemas.openxmlformats.org/drawingml/2006/main" noGrp="1"/>
          </p:cNvSpPr>
          <p:nvPr/>
        </p:nvSpPr>
        <p:spPr>
          <a:xfrm xmlns:a="http://schemas.openxmlformats.org/drawingml/2006/main">
            <a:off x="533400" y="1781175"/>
            <a:ext cx="10572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667085"/>
                </a:solidFill>
                <a:latin typeface="Apple SD Gothic Neo"/>
                <a:ea typeface="Apple SD Gothic Neo"/>
                <a:cs typeface="Apple SD Gothic Neo"/>
              </a:defRPr>
            </a:pPr>
            <a:r>
              <a:rPr sz="1500" b="0">
                <a:solidFill>
                  <a:srgbClr val="667085"/>
                </a:solidFill>
                <a:latin typeface="Apple SD Gothic Neo"/>
                <a:ea typeface="Apple SD Gothic Neo"/>
                <a:cs typeface="Apple SD Gothic Neo"/>
              </a:rPr>
              <a:t>SMH · 2026-08-19 19:50Z~19:56Z · Alpaca Historical IEX</a:t>
            </a:r>
          </a:p>
        </p:txBody>
      </p:sp>
      <p:sp>
        <p:nvSpPr>
          <p:cNvPr id="6" name="">
            <a:extLst xmlns:a="http://schemas.openxmlformats.org/drawingml/2006/main">
              <a:ext uri="{FF2B5EF4-FFF2-40B4-BE49-F238E27FC236}">
                <a16:creationId xmlns:a16="http://schemas.microsoft.com/office/drawing/2014/main" id="{90C3FDB7-014C-4C52-884F-BDB9BBE794F0}"/>
              </a:ext>
            </a:extLst>
          </p:cNvPr>
          <p:cNvSpPr>
            <a:spLocks xmlns:a="http://schemas.openxmlformats.org/drawingml/2006/main" noGrp="1"/>
          </p:cNvSpPr>
          <p:nvPr/>
        </p:nvSpPr>
        <p:spPr>
          <a:xfrm xmlns:a="http://schemas.openxmlformats.org/drawingml/2006/main">
            <a:off x="533400"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8D9DD68-7D5F-41D5-8421-EC3019248552}"/>
              </a:ext>
            </a:extLst>
          </p:cNvPr>
          <p:cNvSpPr>
            <a:spLocks xmlns:a="http://schemas.openxmlformats.org/drawingml/2006/main" noGrp="1"/>
          </p:cNvSpPr>
          <p:nvPr/>
        </p:nvSpPr>
        <p:spPr>
          <a:xfrm xmlns:a="http://schemas.openxmlformats.org/drawingml/2006/main">
            <a:off x="533400"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2DA3FC2-3649-40B9-A247-8CFB7F0BAB78}"/>
              </a:ext>
            </a:extLst>
          </p:cNvPr>
          <p:cNvSpPr>
            <a:spLocks xmlns:a="http://schemas.openxmlformats.org/drawingml/2006/main" noGrp="1"/>
          </p:cNvSpPr>
          <p:nvPr/>
        </p:nvSpPr>
        <p:spPr>
          <a:xfrm xmlns:a="http://schemas.openxmlformats.org/drawingml/2006/main">
            <a:off x="800100"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427</a:t>
            </a:r>
          </a:p>
        </p:txBody>
      </p:sp>
      <p:sp>
        <p:nvSpPr>
          <p:cNvPr id="9" name="">
            <a:extLst xmlns:a="http://schemas.openxmlformats.org/drawingml/2006/main">
              <a:ext uri="{FF2B5EF4-FFF2-40B4-BE49-F238E27FC236}">
                <a16:creationId xmlns:a16="http://schemas.microsoft.com/office/drawing/2014/main" id="{112370FB-0714-40BB-A9FA-58FC4A2EB136}"/>
              </a:ext>
            </a:extLst>
          </p:cNvPr>
          <p:cNvSpPr>
            <a:spLocks xmlns:a="http://schemas.openxmlformats.org/drawingml/2006/main" noGrp="1"/>
          </p:cNvSpPr>
          <p:nvPr/>
        </p:nvSpPr>
        <p:spPr>
          <a:xfrm xmlns:a="http://schemas.openxmlformats.org/drawingml/2006/main">
            <a:off x="800100"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조회 = Kafka 발행</a:t>
            </a:r>
          </a:p>
        </p:txBody>
      </p:sp>
      <p:sp>
        <p:nvSpPr>
          <p:cNvPr id="10" name="">
            <a:extLst xmlns:a="http://schemas.openxmlformats.org/drawingml/2006/main">
              <a:ext uri="{FF2B5EF4-FFF2-40B4-BE49-F238E27FC236}">
                <a16:creationId xmlns:a16="http://schemas.microsoft.com/office/drawing/2014/main" id="{DE46ACBC-9414-4D0A-857A-C0C24099028C}"/>
              </a:ext>
            </a:extLst>
          </p:cNvPr>
          <p:cNvSpPr>
            <a:spLocks xmlns:a="http://schemas.openxmlformats.org/drawingml/2006/main" noGrp="1"/>
          </p:cNvSpPr>
          <p:nvPr/>
        </p:nvSpPr>
        <p:spPr>
          <a:xfrm xmlns:a="http://schemas.openxmlformats.org/drawingml/2006/main">
            <a:off x="800100"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실제 trade · API 1 page</a:t>
            </a:r>
          </a:p>
        </p:txBody>
      </p:sp>
      <p:sp>
        <p:nvSpPr>
          <p:cNvPr id="11" name="">
            <a:extLst xmlns:a="http://schemas.openxmlformats.org/drawingml/2006/main">
              <a:ext uri="{FF2B5EF4-FFF2-40B4-BE49-F238E27FC236}">
                <a16:creationId xmlns:a16="http://schemas.microsoft.com/office/drawing/2014/main" id="{F422721F-F8A8-42FC-AFAC-DB70E46D6EC2}"/>
              </a:ext>
            </a:extLst>
          </p:cNvPr>
          <p:cNvSpPr>
            <a:spLocks xmlns:a="http://schemas.openxmlformats.org/drawingml/2006/main" noGrp="1"/>
          </p:cNvSpPr>
          <p:nvPr/>
        </p:nvSpPr>
        <p:spPr>
          <a:xfrm xmlns:a="http://schemas.openxmlformats.org/drawingml/2006/main">
            <a:off x="4429125"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DD3262-6DA1-401B-8FD1-2104DFF4F84A}"/>
              </a:ext>
            </a:extLst>
          </p:cNvPr>
          <p:cNvSpPr>
            <a:spLocks xmlns:a="http://schemas.openxmlformats.org/drawingml/2006/main" noGrp="1"/>
          </p:cNvSpPr>
          <p:nvPr/>
        </p:nvSpPr>
        <p:spPr>
          <a:xfrm xmlns:a="http://schemas.openxmlformats.org/drawingml/2006/main">
            <a:off x="4429125"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D04833-C4EE-4BA9-864C-6342F5E62603}"/>
              </a:ext>
            </a:extLst>
          </p:cNvPr>
          <p:cNvSpPr>
            <a:spLocks xmlns:a="http://schemas.openxmlformats.org/drawingml/2006/main" noGrp="1"/>
          </p:cNvSpPr>
          <p:nvPr/>
        </p:nvSpPr>
        <p:spPr>
          <a:xfrm xmlns:a="http://schemas.openxmlformats.org/drawingml/2006/main">
            <a:off x="4695825"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174</a:t>
            </a:r>
          </a:p>
        </p:txBody>
      </p:sp>
      <p:sp>
        <p:nvSpPr>
          <p:cNvPr id="14" name="">
            <a:extLst xmlns:a="http://schemas.openxmlformats.org/drawingml/2006/main">
              <a:ext uri="{FF2B5EF4-FFF2-40B4-BE49-F238E27FC236}">
                <a16:creationId xmlns:a16="http://schemas.microsoft.com/office/drawing/2014/main" id="{02EC2970-742A-4BF7-A1F9-C667B4F7F3A4}"/>
              </a:ext>
            </a:extLst>
          </p:cNvPr>
          <p:cNvSpPr>
            <a:spLocks xmlns:a="http://schemas.openxmlformats.org/drawingml/2006/main" noGrp="1"/>
          </p:cNvSpPr>
          <p:nvPr/>
        </p:nvSpPr>
        <p:spPr>
          <a:xfrm xmlns:a="http://schemas.openxmlformats.org/drawingml/2006/main">
            <a:off x="4695825"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확정 봉 반영 거래</a:t>
            </a:r>
          </a:p>
        </p:txBody>
      </p:sp>
      <p:sp>
        <p:nvSpPr>
          <p:cNvPr id="15" name="">
            <a:extLst xmlns:a="http://schemas.openxmlformats.org/drawingml/2006/main">
              <a:ext uri="{FF2B5EF4-FFF2-40B4-BE49-F238E27FC236}">
                <a16:creationId xmlns:a16="http://schemas.microsoft.com/office/drawing/2014/main" id="{81B35879-C6F8-421E-AD94-86E7E92A3253}"/>
              </a:ext>
            </a:extLst>
          </p:cNvPr>
          <p:cNvSpPr>
            <a:spLocks xmlns:a="http://schemas.openxmlformats.org/drawingml/2006/main" noGrp="1"/>
          </p:cNvSpPr>
          <p:nvPr/>
        </p:nvSpPr>
        <p:spPr>
          <a:xfrm xmlns:a="http://schemas.openxmlformats.org/drawingml/2006/main">
            <a:off x="4695825"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3개 final 1분봉 · watermark 확정</a:t>
            </a:r>
          </a:p>
        </p:txBody>
      </p:sp>
      <p:sp>
        <p:nvSpPr>
          <p:cNvPr id="16" name="">
            <a:extLst xmlns:a="http://schemas.openxmlformats.org/drawingml/2006/main">
              <a:ext uri="{FF2B5EF4-FFF2-40B4-BE49-F238E27FC236}">
                <a16:creationId xmlns:a16="http://schemas.microsoft.com/office/drawing/2014/main" id="{F2CD09B0-3090-401D-AEBE-95DDD3B35BB7}"/>
              </a:ext>
            </a:extLst>
          </p:cNvPr>
          <p:cNvSpPr>
            <a:spLocks xmlns:a="http://schemas.openxmlformats.org/drawingml/2006/main" noGrp="1"/>
          </p:cNvSpPr>
          <p:nvPr/>
        </p:nvSpPr>
        <p:spPr>
          <a:xfrm xmlns:a="http://schemas.openxmlformats.org/drawingml/2006/main">
            <a:off x="8324850"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2A389C2-445B-47AC-8895-2FAC52E32F0A}"/>
              </a:ext>
            </a:extLst>
          </p:cNvPr>
          <p:cNvSpPr>
            <a:spLocks xmlns:a="http://schemas.openxmlformats.org/drawingml/2006/main" noGrp="1"/>
          </p:cNvSpPr>
          <p:nvPr/>
        </p:nvSpPr>
        <p:spPr>
          <a:xfrm xmlns:a="http://schemas.openxmlformats.org/drawingml/2006/main">
            <a:off x="8324850"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F12AF38-394B-487C-9CC7-ACEFECFF91B2}"/>
              </a:ext>
            </a:extLst>
          </p:cNvPr>
          <p:cNvSpPr>
            <a:spLocks xmlns:a="http://schemas.openxmlformats.org/drawingml/2006/main" noGrp="1"/>
          </p:cNvSpPr>
          <p:nvPr/>
        </p:nvSpPr>
        <p:spPr>
          <a:xfrm xmlns:a="http://schemas.openxmlformats.org/drawingml/2006/main">
            <a:off x="8591550"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0</a:t>
            </a:r>
          </a:p>
        </p:txBody>
      </p:sp>
      <p:sp>
        <p:nvSpPr>
          <p:cNvPr id="19" name="">
            <a:extLst xmlns:a="http://schemas.openxmlformats.org/drawingml/2006/main">
              <a:ext uri="{FF2B5EF4-FFF2-40B4-BE49-F238E27FC236}">
                <a16:creationId xmlns:a16="http://schemas.microsoft.com/office/drawing/2014/main" id="{6F1228C5-28F2-4C08-91B9-DE88BEA759C0}"/>
              </a:ext>
            </a:extLst>
          </p:cNvPr>
          <p:cNvSpPr>
            <a:spLocks xmlns:a="http://schemas.openxmlformats.org/drawingml/2006/main" noGrp="1"/>
          </p:cNvSpPr>
          <p:nvPr/>
        </p:nvSpPr>
        <p:spPr>
          <a:xfrm xmlns:a="http://schemas.openxmlformats.org/drawingml/2006/main">
            <a:off x="8591550"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중복 business key</a:t>
            </a:r>
          </a:p>
        </p:txBody>
      </p:sp>
      <p:sp>
        <p:nvSpPr>
          <p:cNvPr id="20" name="">
            <a:extLst xmlns:a="http://schemas.openxmlformats.org/drawingml/2006/main">
              <a:ext uri="{FF2B5EF4-FFF2-40B4-BE49-F238E27FC236}">
                <a16:creationId xmlns:a16="http://schemas.microsoft.com/office/drawing/2014/main" id="{8073699F-BF06-4BEE-9B77-38056579C38A}"/>
              </a:ext>
            </a:extLst>
          </p:cNvPr>
          <p:cNvSpPr>
            <a:spLocks xmlns:a="http://schemas.openxmlformats.org/drawingml/2006/main" noGrp="1"/>
          </p:cNvSpPr>
          <p:nvPr/>
        </p:nvSpPr>
        <p:spPr>
          <a:xfrm xmlns:a="http://schemas.openxmlformats.org/drawingml/2006/main">
            <a:off x="8591550"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row 수와 business key 수 일치</a:t>
            </a:r>
          </a:p>
        </p:txBody>
      </p:sp>
      <p:sp>
        <p:nvSpPr>
          <p:cNvPr id="21" name="">
            <a:extLst xmlns:a="http://schemas.openxmlformats.org/drawingml/2006/main">
              <a:ext uri="{FF2B5EF4-FFF2-40B4-BE49-F238E27FC236}">
                <a16:creationId xmlns:a16="http://schemas.microsoft.com/office/drawing/2014/main" id="{18CCACFF-D7A5-4F7A-8963-FBA21E1787E5}"/>
              </a:ext>
            </a:extLst>
          </p:cNvPr>
          <p:cNvSpPr>
            <a:spLocks xmlns:a="http://schemas.openxmlformats.org/drawingml/2006/main" noGrp="1"/>
          </p:cNvSpPr>
          <p:nvPr/>
        </p:nvSpPr>
        <p:spPr>
          <a:xfrm xmlns:a="http://schemas.openxmlformats.org/drawingml/2006/main">
            <a:off x="533400" y="54959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Apple SD Gothic Neo"/>
                <a:ea typeface="Apple SD Gothic Neo"/>
                <a:cs typeface="Apple SD Gothic Neo"/>
              </a:defRPr>
            </a:pPr>
            <a:r>
              <a:rPr sz="1425" b="1">
                <a:solidFill>
                  <a:srgbClr val="101828"/>
                </a:solidFill>
                <a:latin typeface="Apple SD Gothic Neo"/>
                <a:ea typeface="Apple SD Gothic Neo"/>
                <a:cs typeface="Apple SD Gothic Neo"/>
              </a:rPr>
              <a:t>나머지 구간은 실행 종료 시 watermark를 통과하지 않아 final row로 저장되지 않았습니다.</a:t>
            </a:r>
          </a:p>
        </p:txBody>
      </p:sp>
    </p:spTree>
    <p:extLst>
      <p:ext uri="{BB962C8B-B14F-4D97-AF65-F5344CB8AC3E}">
        <p14:creationId xmlns:p14="http://schemas.microsoft.com/office/powerpoint/2010/main" val="88109677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6">
            <a:extLst xmlns:a="http://schemas.openxmlformats.org/drawingml/2006/main">
              <a:ext uri="{FF2B5EF4-FFF2-40B4-BE49-F238E27FC236}">
                <a16:creationId xmlns:a16="http://schemas.microsoft.com/office/drawing/2014/main" id="{B1FD83D7-C733-4CA3-957C-34B308A92463}"/>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RELIABILITY EVIDENCE</a:t>
            </a:r>
          </a:p>
        </p:txBody>
      </p:sp>
      <p:sp>
        <p:nvSpPr>
          <p:cNvPr id="2" name="title-6">
            <a:extLst xmlns:a="http://schemas.openxmlformats.org/drawingml/2006/main">
              <a:ext uri="{FF2B5EF4-FFF2-40B4-BE49-F238E27FC236}">
                <a16:creationId xmlns:a16="http://schemas.microsoft.com/office/drawing/2014/main" id="{DC905819-4009-4CA3-B5B2-8F148F8C1FB1}"/>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정상 실행뿐 아니라 지연·중복·재시작과 DB 장애도 확인했습니다</a:t>
            </a:r>
          </a:p>
        </p:txBody>
      </p:sp>
      <p:sp>
        <p:nvSpPr>
          <p:cNvPr id="3" name="">
            <a:extLst xmlns:a="http://schemas.openxmlformats.org/drawingml/2006/main">
              <a:ext uri="{FF2B5EF4-FFF2-40B4-BE49-F238E27FC236}">
                <a16:creationId xmlns:a16="http://schemas.microsoft.com/office/drawing/2014/main" id="{98F3267E-61C0-43FD-8440-971A5956AF06}"/>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E90D0B52-8B04-4ADD-823A-A6060B6C8E3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06</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a635db45f9e641b3"/>
          <a:stretch xmlns:a="http://schemas.openxmlformats.org/drawingml/2006/main"/>
        </p:blipFill>
        <p:spPr>
          <a:xfrm xmlns:a="http://schemas.openxmlformats.org/drawingml/2006/main">
            <a:off x="533400" y="1772245"/>
            <a:ext cx="5314950" cy="2989659"/>
          </a:xfrm>
          <a:prstGeom xmlns:a="http://schemas.openxmlformats.org/drawingml/2006/main" prst="rect">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a651b0febe94822"/>
          <a:stretch xmlns:a="http://schemas.openxmlformats.org/drawingml/2006/main"/>
        </p:blipFill>
        <p:spPr>
          <a:xfrm xmlns:a="http://schemas.openxmlformats.org/drawingml/2006/main">
            <a:off x="6343650" y="1772245"/>
            <a:ext cx="5314950" cy="2989659"/>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1F8CE96-1C76-4229-B5A2-D85C8DD219BC}"/>
              </a:ext>
            </a:extLst>
          </p:cNvPr>
          <p:cNvSpPr>
            <a:spLocks xmlns:a="http://schemas.openxmlformats.org/drawingml/2006/main" noGrp="1"/>
          </p:cNvSpPr>
          <p:nvPr/>
        </p:nvSpPr>
        <p:spPr>
          <a:xfrm xmlns:a="http://schemas.openxmlformats.org/drawingml/2006/main">
            <a:off x="533400" y="4953000"/>
            <a:ext cx="5314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101828"/>
                </a:solidFill>
                <a:latin typeface="Apple SD Gothic Neo"/>
                <a:ea typeface="Apple SD Gothic Neo"/>
                <a:cs typeface="Apple SD Gothic Neo"/>
              </a:defRPr>
            </a:pPr>
            <a:r>
              <a:rPr sz="1650" b="1">
                <a:solidFill>
                  <a:srgbClr val="101828"/>
                </a:solidFill>
                <a:latin typeface="Apple SD Gothic Neo"/>
                <a:ea typeface="Apple SD Gothic Neo"/>
                <a:cs typeface="Apple SD Gothic Neo"/>
              </a:rPr>
              <a:t>45 unit tests OK · Kafka/Spark integration 2/2</a:t>
            </a:r>
          </a:p>
        </p:txBody>
      </p:sp>
      <p:sp>
        <p:nvSpPr>
          <p:cNvPr id="8" name="">
            <a:extLst xmlns:a="http://schemas.openxmlformats.org/drawingml/2006/main">
              <a:ext uri="{FF2B5EF4-FFF2-40B4-BE49-F238E27FC236}">
                <a16:creationId xmlns:a16="http://schemas.microsoft.com/office/drawing/2014/main" id="{7C3903C8-72CB-409A-96CB-615141A24555}"/>
              </a:ext>
            </a:extLst>
          </p:cNvPr>
          <p:cNvSpPr>
            <a:spLocks xmlns:a="http://schemas.openxmlformats.org/drawingml/2006/main" noGrp="1"/>
          </p:cNvSpPr>
          <p:nvPr/>
        </p:nvSpPr>
        <p:spPr>
          <a:xfrm xmlns:a="http://schemas.openxmlformats.org/drawingml/2006/main">
            <a:off x="6343650" y="4953000"/>
            <a:ext cx="5314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101828"/>
                </a:solidFill>
                <a:latin typeface="Apple SD Gothic Neo"/>
                <a:ea typeface="Apple SD Gothic Neo"/>
                <a:cs typeface="Apple SD Gothic Neo"/>
              </a:defRPr>
            </a:pPr>
            <a:r>
              <a:rPr sz="1650" b="1">
                <a:solidFill>
                  <a:srgbClr val="101828"/>
                </a:solidFill>
                <a:latin typeface="Apple SD Gothic Neo"/>
                <a:ea typeface="Apple SD Gothic Neo"/>
                <a:cs typeface="Apple SD Gothic Neo"/>
              </a:rPr>
              <a:t>DB 중단 중 실패 → 동일 batch 재시도 → 최종 row 1</a:t>
            </a:r>
          </a:p>
        </p:txBody>
      </p:sp>
      <p:sp>
        <p:nvSpPr>
          <p:cNvPr id="9" name="">
            <a:extLst xmlns:a="http://schemas.openxmlformats.org/drawingml/2006/main">
              <a:ext uri="{FF2B5EF4-FFF2-40B4-BE49-F238E27FC236}">
                <a16:creationId xmlns:a16="http://schemas.microsoft.com/office/drawing/2014/main" id="{BE8074D6-A29A-4C09-8B93-1AFDC6925987}"/>
              </a:ext>
            </a:extLst>
          </p:cNvPr>
          <p:cNvSpPr>
            <a:spLocks xmlns:a="http://schemas.openxmlformats.org/drawingml/2006/main" noGrp="1"/>
          </p:cNvSpPr>
          <p:nvPr/>
        </p:nvSpPr>
        <p:spPr>
          <a:xfrm xmlns:a="http://schemas.openxmlformats.org/drawingml/2006/main">
            <a:off x="533400" y="581025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667085"/>
                </a:solidFill>
                <a:latin typeface="Apple SD Gothic Neo"/>
                <a:ea typeface="Apple SD Gothic Neo"/>
                <a:cs typeface="Apple SD Gothic Neo"/>
              </a:defRPr>
            </a:pPr>
            <a:r>
              <a:rPr sz="1350" b="0">
                <a:solidFill>
                  <a:srgbClr val="667085"/>
                </a:solidFill>
                <a:latin typeface="Apple SD Gothic Neo"/>
                <a:ea typeface="Apple SD Gothic Neo"/>
                <a:cs typeface="Apple SD Gothic Neo"/>
              </a:rPr>
              <a:t>GitHub에는 API key, connection URL, 실제 원본 payload를 포함하지 않았습니다.</a:t>
            </a:r>
          </a:p>
        </p:txBody>
      </p:sp>
    </p:spTree>
    <p:extLst>
      <p:ext uri="{BB962C8B-B14F-4D97-AF65-F5344CB8AC3E}">
        <p14:creationId xmlns:p14="http://schemas.microsoft.com/office/powerpoint/2010/main" val="3878225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1D9B6ED-8397-4481-80E5-43DE7981596E}"/>
              </a:ext>
            </a:extLst>
          </p:cNvPr>
          <p:cNvSpPr>
            <a:spLocks xmlns:a="http://schemas.openxmlformats.org/drawingml/2006/main" noGrp="1"/>
          </p:cNvSpPr>
          <p:nvPr/>
        </p:nvSpPr>
        <p:spPr>
          <a:xfrm xmlns:a="http://schemas.openxmlformats.org/drawingml/2006/main">
            <a:off x="533400" y="428625"/>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1570EF"/>
                </a:solidFill>
                <a:latin typeface="Apple SD Gothic Neo"/>
                <a:ea typeface="Apple SD Gothic Neo"/>
                <a:cs typeface="Apple SD Gothic Neo"/>
              </a:defRPr>
            </a:pPr>
            <a:r>
              <a:rPr sz="1200" b="1">
                <a:solidFill>
                  <a:srgbClr val="1570EF"/>
                </a:solidFill>
                <a:latin typeface="Apple SD Gothic Neo"/>
                <a:ea typeface="Apple SD Gothic Neo"/>
                <a:cs typeface="Apple SD Gothic Neo"/>
              </a:rPr>
              <a:t>CURRENT → NEXT</a:t>
            </a:r>
          </a:p>
        </p:txBody>
      </p:sp>
      <p:sp>
        <p:nvSpPr>
          <p:cNvPr id="2" name="">
            <a:extLst xmlns:a="http://schemas.openxmlformats.org/drawingml/2006/main">
              <a:ext uri="{FF2B5EF4-FFF2-40B4-BE49-F238E27FC236}">
                <a16:creationId xmlns:a16="http://schemas.microsoft.com/office/drawing/2014/main" id="{44AF6880-34D0-4C9F-B03E-CFBBFEE8B85D}"/>
              </a:ext>
            </a:extLst>
          </p:cNvPr>
          <p:cNvSpPr>
            <a:spLocks xmlns:a="http://schemas.openxmlformats.org/drawingml/2006/main" noGrp="1"/>
          </p:cNvSpPr>
          <p:nvPr/>
        </p:nvSpPr>
        <p:spPr>
          <a:xfrm xmlns:a="http://schemas.openxmlformats.org/drawingml/2006/main">
            <a:off x="533400" y="1362075"/>
            <a:ext cx="876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이번 과제 범위는 완료했고,</a:t>
            </a:r>
          </a:p>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다음은 실시간 전체 경로입니다</a:t>
            </a:r>
          </a:p>
        </p:txBody>
      </p:sp>
      <p:sp>
        <p:nvSpPr>
          <p:cNvPr id="3" name="">
            <a:extLst xmlns:a="http://schemas.openxmlformats.org/drawingml/2006/main">
              <a:ext uri="{FF2B5EF4-FFF2-40B4-BE49-F238E27FC236}">
                <a16:creationId xmlns:a16="http://schemas.microsoft.com/office/drawing/2014/main" id="{5CCD5217-A467-4DC2-BB82-4605767B3148}"/>
              </a:ext>
            </a:extLst>
          </p:cNvPr>
          <p:cNvSpPr>
            <a:spLocks xmlns:a="http://schemas.openxmlformats.org/drawingml/2006/main" noGrp="1"/>
          </p:cNvSpPr>
          <p:nvPr/>
        </p:nvSpPr>
        <p:spPr>
          <a:xfrm xmlns:a="http://schemas.openxmlformats.org/drawingml/2006/main">
            <a:off x="533400" y="38862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75" b="1">
                <a:solidFill>
                  <a:srgbClr val="067647"/>
                </a:solidFill>
                <a:latin typeface="Apple SD Gothic Neo"/>
                <a:ea typeface="Apple SD Gothic Neo"/>
                <a:cs typeface="Apple SD Gothic Neo"/>
              </a:defRPr>
            </a:pPr>
            <a:r>
              <a:rPr sz="1875" b="1">
                <a:solidFill>
                  <a:srgbClr val="067647"/>
                </a:solidFill>
                <a:latin typeface="Apple SD Gothic Neo"/>
                <a:ea typeface="Apple SD Gothic Neo"/>
                <a:cs typeface="Apple SD Gothic Neo"/>
              </a:rPr>
              <a:t>완료</a:t>
            </a:r>
          </a:p>
        </p:txBody>
      </p:sp>
      <p:sp>
        <p:nvSpPr>
          <p:cNvPr id="4" name="">
            <a:extLst xmlns:a="http://schemas.openxmlformats.org/drawingml/2006/main">
              <a:ext uri="{FF2B5EF4-FFF2-40B4-BE49-F238E27FC236}">
                <a16:creationId xmlns:a16="http://schemas.microsoft.com/office/drawing/2014/main" id="{7F07B143-46F6-46C3-ACED-C6140E583E83}"/>
              </a:ext>
            </a:extLst>
          </p:cNvPr>
          <p:cNvSpPr>
            <a:spLocks xmlns:a="http://schemas.openxmlformats.org/drawingml/2006/main" noGrp="1"/>
          </p:cNvSpPr>
          <p:nvPr/>
        </p:nvSpPr>
        <p:spPr>
          <a:xfrm xmlns:a="http://schemas.openxmlformats.org/drawingml/2006/main">
            <a:off x="533400" y="438150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실제 데이터 → Kafka → Spark → PostgreSQL 저장</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아키텍처·재현 명령·결과 JSON·안전한 캡처</a:t>
            </a:r>
          </a:p>
        </p:txBody>
      </p:sp>
      <p:sp>
        <p:nvSpPr>
          <p:cNvPr id="5" name="">
            <a:extLst xmlns:a="http://schemas.openxmlformats.org/drawingml/2006/main">
              <a:ext uri="{FF2B5EF4-FFF2-40B4-BE49-F238E27FC236}">
                <a16:creationId xmlns:a16="http://schemas.microsoft.com/office/drawing/2014/main" id="{501CA750-0036-46C9-AFBC-D7B56D1821C7}"/>
              </a:ext>
            </a:extLst>
          </p:cNvPr>
          <p:cNvSpPr>
            <a:spLocks xmlns:a="http://schemas.openxmlformats.org/drawingml/2006/main" noGrp="1"/>
          </p:cNvSpPr>
          <p:nvPr/>
        </p:nvSpPr>
        <p:spPr>
          <a:xfrm xmlns:a="http://schemas.openxmlformats.org/drawingml/2006/main">
            <a:off x="6324600" y="38862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75" b="1">
                <a:solidFill>
                  <a:srgbClr val="7F56D9"/>
                </a:solidFill>
                <a:latin typeface="Apple SD Gothic Neo"/>
                <a:ea typeface="Apple SD Gothic Neo"/>
                <a:cs typeface="Apple SD Gothic Neo"/>
              </a:defRPr>
            </a:pPr>
            <a:r>
              <a:rPr sz="1875" b="1">
                <a:solidFill>
                  <a:srgbClr val="7F56D9"/>
                </a:solidFill>
                <a:latin typeface="Apple SD Gothic Neo"/>
                <a:ea typeface="Apple SD Gothic Neo"/>
                <a:cs typeface="Apple SD Gothic Neo"/>
              </a:rPr>
              <a:t>다음</a:t>
            </a:r>
          </a:p>
        </p:txBody>
      </p:sp>
      <p:sp>
        <p:nvSpPr>
          <p:cNvPr id="6" name="">
            <a:extLst xmlns:a="http://schemas.openxmlformats.org/drawingml/2006/main">
              <a:ext uri="{FF2B5EF4-FFF2-40B4-BE49-F238E27FC236}">
                <a16:creationId xmlns:a16="http://schemas.microsoft.com/office/drawing/2014/main" id="{5002CAE1-7CFC-4B7B-AA01-7FC881E315C4}"/>
              </a:ext>
            </a:extLst>
          </p:cNvPr>
          <p:cNvSpPr>
            <a:spLocks xmlns:a="http://schemas.openxmlformats.org/drawingml/2006/main" noGrp="1"/>
          </p:cNvSpPr>
          <p:nvPr/>
        </p:nvSpPr>
        <p:spPr>
          <a:xfrm xmlns:a="http://schemas.openxmlformats.org/drawingml/2006/main">
            <a:off x="6324600" y="438150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다음 정규장 WebSocket → PostgreSQL E2E</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Airflow로 공식 경제지표 수집 → 발표 전후 영향 분석</a:t>
            </a:r>
          </a:p>
        </p:txBody>
      </p:sp>
      <p:sp>
        <p:nvSpPr>
          <p:cNvPr id="7" name="">
            <a:extLst xmlns:a="http://schemas.openxmlformats.org/drawingml/2006/main">
              <a:ext uri="{FF2B5EF4-FFF2-40B4-BE49-F238E27FC236}">
                <a16:creationId xmlns:a16="http://schemas.microsoft.com/office/drawing/2014/main" id="{C7D00805-A990-4CE1-89CB-BFA2537BB9C5}"/>
              </a:ext>
            </a:extLst>
          </p:cNvPr>
          <p:cNvSpPr>
            <a:spLocks xmlns:a="http://schemas.openxmlformats.org/drawingml/2006/main" noGrp="1"/>
          </p:cNvSpPr>
          <p:nvPr/>
        </p:nvSpPr>
        <p:spPr>
          <a:xfrm xmlns:a="http://schemas.openxmlformats.org/drawingml/2006/main">
            <a:off x="533400" y="5772150"/>
            <a:ext cx="111252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40DA8A41-B074-4AAC-BACA-66CAD96B8858}"/>
              </a:ext>
            </a:extLst>
          </p:cNvPr>
          <p:cNvSpPr>
            <a:spLocks xmlns:a="http://schemas.openxmlformats.org/drawingml/2006/main" noGrp="1"/>
          </p:cNvSpPr>
          <p:nvPr/>
        </p:nvSpPr>
        <p:spPr>
          <a:xfrm xmlns:a="http://schemas.openxmlformats.org/drawingml/2006/main">
            <a:off x="533400" y="601980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buNone/>
              <a:defRPr sz="1500" b="1">
                <a:solidFill>
                  <a:srgbClr val="1570EF"/>
                </a:solidFill>
                <a:latin typeface="Apple SD Gothic Neo"/>
                <a:ea typeface="Apple SD Gothic Neo"/>
                <a:cs typeface="Apple SD Gothic Neo"/>
              </a:defRPr>
            </a:pPr>
            <a:r>
              <a:rPr sz="1500" b="1">
                <a:solidFill>
                  <a:srgbClr val="1570EF"/>
                </a:solidFill>
                <a:latin typeface="Apple SD Gothic Neo"/>
                <a:ea typeface="Apple SD Gothic Neo"/>
                <a:cs typeface="Apple SD Gothic Neo"/>
              </a:rPr>
              <a:t>피드백 요청: 현재 규모의 Spark 사용 근거와 Kafka 24시간 보관 정책이 적절한가?</a:t>
            </a:r>
          </a:p>
        </p:txBody>
      </p:sp>
      <p:sp>
        <p:nvSpPr>
          <p:cNvPr id="9" name="">
            <a:extLst xmlns:a="http://schemas.openxmlformats.org/drawingml/2006/main">
              <a:ext uri="{FF2B5EF4-FFF2-40B4-BE49-F238E27FC236}">
                <a16:creationId xmlns:a16="http://schemas.microsoft.com/office/drawing/2014/main" id="{C6EAD8C2-26E1-4608-891A-E944B635EAAC}"/>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07</a:t>
            </a:r>
          </a:p>
        </p:txBody>
      </p:sp>
    </p:spTree>
    <p:extLst>
      <p:ext uri="{BB962C8B-B14F-4D97-AF65-F5344CB8AC3E}">
        <p14:creationId xmlns:p14="http://schemas.microsoft.com/office/powerpoint/2010/main" val="20250653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2026-08-20T11:20:53.5480000Z</dcterms:created>
  <dcterms:modified xsi:type="dcterms:W3CDTF">2026-08-20T11:20:53.5480000Z</dcterms:modified>
</coreProperties>
</file>